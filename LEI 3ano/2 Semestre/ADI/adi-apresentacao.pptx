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08237" y="4239071"/>
            <a:ext cx="1930747" cy="328315"/>
          </a:xfrm>
          <a:prstGeom prst="roundRect">
            <a:avLst>
              <a:gd name="adj" fmla="val 222810"/>
            </a:avLst>
          </a:prstGeom>
          <a:solidFill>
            <a:srgbClr val="1DB954">
              <a:alpha val="10000"/>
            </a:srgbClr>
          </a:solidFill>
          <a:ln w="9525">
            <a:solidFill>
              <a:srgbClr val="1DB954"/>
            </a:solidFill>
          </a:ln>
        </p:spPr>
        <p:txBody>
          <a:bodyPr wrap="square" lIns="152400" tIns="152400" rIns="152400" bIns="152400" rtlCol="0" anchor="t">
            <a:normAutofit/>
          </a:bodyPr>
          <a:lstStyle/>
          <a:p>
            <a:pPr algn="ctr" indent="0" marL="0">
              <a:buNone/>
            </a:pPr>
            <a:r>
              <a:rPr lang="en-US" sz="984" dirty="0">
                <a:solidFill>
                  <a:srgbClr val="8B949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Jorge Fernandes A104168</a:t>
            </a:r>
            <a:endParaRPr lang="en-US" sz="984" dirty="0"/>
          </a:p>
        </p:txBody>
      </p:sp>
      <p:sp>
        <p:nvSpPr>
          <p:cNvPr id="3" name="Text 1"/>
          <p:cNvSpPr/>
          <p:nvPr/>
        </p:nvSpPr>
        <p:spPr>
          <a:xfrm>
            <a:off x="3691384" y="4239071"/>
            <a:ext cx="1975098" cy="328315"/>
          </a:xfrm>
          <a:prstGeom prst="roundRect">
            <a:avLst>
              <a:gd name="adj" fmla="val 222810"/>
            </a:avLst>
          </a:prstGeom>
          <a:solidFill>
            <a:srgbClr val="1DB954">
              <a:alpha val="10000"/>
            </a:srgbClr>
          </a:solidFill>
          <a:ln w="9525">
            <a:solidFill>
              <a:srgbClr val="1DB954"/>
            </a:solidFill>
          </a:ln>
        </p:spPr>
        <p:txBody>
          <a:bodyPr wrap="square" lIns="152400" tIns="152400" rIns="152400" bIns="152400" rtlCol="0" anchor="t">
            <a:normAutofit/>
          </a:bodyPr>
          <a:lstStyle/>
          <a:p>
            <a:pPr algn="ctr" indent="0" marL="0">
              <a:buNone/>
            </a:pPr>
            <a:r>
              <a:rPr lang="en-US" sz="984" dirty="0">
                <a:solidFill>
                  <a:srgbClr val="8B949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Diogo Fernandes A104260</a:t>
            </a:r>
            <a:endParaRPr lang="en-US" sz="984" dirty="0"/>
          </a:p>
        </p:txBody>
      </p:sp>
      <p:sp>
        <p:nvSpPr>
          <p:cNvPr id="4" name="Text 2"/>
          <p:cNvSpPr/>
          <p:nvPr/>
        </p:nvSpPr>
        <p:spPr>
          <a:xfrm>
            <a:off x="5818882" y="4239071"/>
            <a:ext cx="1716732" cy="328315"/>
          </a:xfrm>
          <a:prstGeom prst="roundRect">
            <a:avLst>
              <a:gd name="adj" fmla="val 222810"/>
            </a:avLst>
          </a:prstGeom>
          <a:solidFill>
            <a:srgbClr val="1DB954">
              <a:alpha val="10000"/>
            </a:srgbClr>
          </a:solidFill>
          <a:ln w="9525">
            <a:solidFill>
              <a:srgbClr val="1DB954"/>
            </a:solidFill>
          </a:ln>
        </p:spPr>
        <p:txBody>
          <a:bodyPr wrap="square" lIns="152400" tIns="152400" rIns="152400" bIns="152400" rtlCol="0" anchor="t">
            <a:normAutofit/>
          </a:bodyPr>
          <a:lstStyle/>
          <a:p>
            <a:pPr algn="ctr" indent="0" marL="0">
              <a:buNone/>
            </a:pPr>
            <a:r>
              <a:rPr lang="en-US" sz="984" dirty="0">
                <a:solidFill>
                  <a:srgbClr val="8B949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Hugo Soares A107293</a:t>
            </a:r>
            <a:endParaRPr lang="en-US" sz="984" dirty="0"/>
          </a:p>
        </p:txBody>
      </p:sp>
      <p:sp>
        <p:nvSpPr>
          <p:cNvPr id="5" name="Text 3"/>
          <p:cNvSpPr/>
          <p:nvPr/>
        </p:nvSpPr>
        <p:spPr>
          <a:xfrm>
            <a:off x="452628" y="575965"/>
            <a:ext cx="8238744" cy="1285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125"/>
              </a:lnSpc>
              <a:buNone/>
            </a:pPr>
            <a:r>
              <a:rPr lang="en-US" sz="675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🎵</a:t>
            </a:r>
            <a:endParaRPr lang="en-US" sz="6750" dirty="0"/>
          </a:p>
        </p:txBody>
      </p:sp>
      <p:sp>
        <p:nvSpPr>
          <p:cNvPr id="6" name="Text 4"/>
          <p:cNvSpPr/>
          <p:nvPr/>
        </p:nvSpPr>
        <p:spPr>
          <a:xfrm>
            <a:off x="533400" y="2014240"/>
            <a:ext cx="8077200" cy="157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210"/>
              </a:lnSpc>
              <a:buNone/>
            </a:pPr>
            <a:r>
              <a:rPr lang="en-US" sz="5400" dirty="0">
                <a:solidFill>
                  <a:srgbClr val="1DB954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Aprendizagem e Decisão</a:t>
            </a:r>
            <a:endParaRPr lang="en-US" sz="5400" dirty="0"/>
          </a:p>
          <a:p>
            <a:pPr algn="ctr" indent="0" marL="0">
              <a:lnSpc>
                <a:spcPts val="6210"/>
              </a:lnSpc>
              <a:buNone/>
            </a:pPr>
            <a:r>
              <a:rPr lang="en-US" sz="5400" dirty="0">
                <a:solidFill>
                  <a:srgbClr val="1DB954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Inteligentes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452628" y="3713411"/>
            <a:ext cx="8238744" cy="251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8B949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Grupo 36 · ADI 2025–2026</a:t>
            </a:r>
            <a:endParaRPr lang="en-US" sz="13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444401"/>
            <a:ext cx="994470" cy="221605"/>
          </a:xfrm>
          <a:prstGeom prst="roundRect">
            <a:avLst>
              <a:gd name="adj" fmla="val 41221344"/>
            </a:avLst>
          </a:prstGeom>
          <a:solidFill>
            <a:srgbClr val="1DB954">
              <a:alpha val="12000"/>
            </a:srgbClr>
          </a:solidFill>
          <a:ln w="9525">
            <a:solidFill>
              <a:srgbClr val="1DB954"/>
            </a:solidFill>
          </a:ln>
        </p:spPr>
        <p:txBody>
          <a:bodyPr wrap="square" lIns="95250" tIns="95250" rIns="95250" bIns="95250" rtlCol="0" anchor="t">
            <a:normAutofit/>
          </a:bodyPr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1DB95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Estrutura</a:t>
            </a:r>
            <a:endParaRPr lang="en-US" sz="864" dirty="0"/>
          </a:p>
        </p:txBody>
      </p:sp>
      <p:sp>
        <p:nvSpPr>
          <p:cNvPr id="3" name="Text 1"/>
          <p:cNvSpPr/>
          <p:nvPr/>
        </p:nvSpPr>
        <p:spPr>
          <a:xfrm>
            <a:off x="533400" y="1686967"/>
            <a:ext cx="3962400" cy="1439466"/>
          </a:xfrm>
          <a:prstGeom prst="roundRect">
            <a:avLst>
              <a:gd name="adj" fmla="val 76228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648200" y="1686967"/>
            <a:ext cx="3962400" cy="1439466"/>
          </a:xfrm>
          <a:prstGeom prst="roundRect">
            <a:avLst>
              <a:gd name="adj" fmla="val 76228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3278832"/>
            <a:ext cx="3962400" cy="1439466"/>
          </a:xfrm>
          <a:prstGeom prst="roundRect">
            <a:avLst>
              <a:gd name="adj" fmla="val 76228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648200" y="3278832"/>
            <a:ext cx="3962400" cy="1439466"/>
          </a:xfrm>
          <a:prstGeom prst="roundRect">
            <a:avLst>
              <a:gd name="adj" fmla="val 76228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33400" y="742206"/>
            <a:ext cx="8238744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040"/>
              </a:lnSpc>
              <a:buNone/>
            </a:pPr>
            <a:r>
              <a:rPr lang="en-US" sz="3360" dirty="0">
                <a:solidFill>
                  <a:srgbClr val="E6EDF3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O que vamos cobrir</a:t>
            </a:r>
            <a:endParaRPr lang="en-US" sz="3360" dirty="0"/>
          </a:p>
        </p:txBody>
      </p:sp>
      <p:sp>
        <p:nvSpPr>
          <p:cNvPr id="8" name="Text 6"/>
          <p:cNvSpPr/>
          <p:nvPr/>
        </p:nvSpPr>
        <p:spPr>
          <a:xfrm>
            <a:off x="775246" y="1879253"/>
            <a:ext cx="3567714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80"/>
              </a:lnSpc>
              <a:buNone/>
            </a:pPr>
            <a:r>
              <a:rPr lang="en-US" sz="192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⚡</a:t>
            </a:r>
            <a:endParaRPr lang="en-US" sz="1920" dirty="0"/>
          </a:p>
        </p:txBody>
      </p:sp>
      <p:sp>
        <p:nvSpPr>
          <p:cNvPr id="9" name="Text 7"/>
          <p:cNvSpPr/>
          <p:nvPr/>
        </p:nvSpPr>
        <p:spPr>
          <a:xfrm>
            <a:off x="775246" y="2305794"/>
            <a:ext cx="3567714" cy="217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10"/>
              </a:lnSpc>
              <a:buNone/>
            </a:pPr>
            <a:r>
              <a:rPr lang="en-US" sz="1140" b="1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Dataset Atribuído</a:t>
            </a:r>
            <a:endParaRPr lang="en-US" sz="1140" dirty="0"/>
          </a:p>
        </p:txBody>
      </p:sp>
      <p:sp>
        <p:nvSpPr>
          <p:cNvPr id="10" name="Text 8"/>
          <p:cNvSpPr/>
          <p:nvPr/>
        </p:nvSpPr>
        <p:spPr>
          <a:xfrm>
            <a:off x="775246" y="2568625"/>
            <a:ext cx="3497759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8B949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Produção energética + meteorologia · Classificação &amp; Regressão</a:t>
            </a:r>
            <a:endParaRPr lang="en-US" sz="960" dirty="0"/>
          </a:p>
        </p:txBody>
      </p:sp>
      <p:sp>
        <p:nvSpPr>
          <p:cNvPr id="11" name="Text 9"/>
          <p:cNvSpPr/>
          <p:nvPr/>
        </p:nvSpPr>
        <p:spPr>
          <a:xfrm>
            <a:off x="4890046" y="1879253"/>
            <a:ext cx="3567714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80"/>
              </a:lnSpc>
              <a:buNone/>
            </a:pPr>
            <a:r>
              <a:rPr lang="en-US" sz="192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🎵</a:t>
            </a:r>
            <a:endParaRPr lang="en-US" sz="1920" dirty="0"/>
          </a:p>
        </p:txBody>
      </p:sp>
      <p:sp>
        <p:nvSpPr>
          <p:cNvPr id="12" name="Text 10"/>
          <p:cNvSpPr/>
          <p:nvPr/>
        </p:nvSpPr>
        <p:spPr>
          <a:xfrm>
            <a:off x="4890046" y="2305794"/>
            <a:ext cx="3567714" cy="217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10"/>
              </a:lnSpc>
              <a:buNone/>
            </a:pPr>
            <a:r>
              <a:rPr lang="en-US" sz="1140" b="1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Dataset Grupo (Spotify)</a:t>
            </a:r>
            <a:endParaRPr lang="en-US" sz="1140" dirty="0"/>
          </a:p>
        </p:txBody>
      </p:sp>
      <p:sp>
        <p:nvSpPr>
          <p:cNvPr id="13" name="Text 11"/>
          <p:cNvSpPr/>
          <p:nvPr/>
        </p:nvSpPr>
        <p:spPr>
          <a:xfrm>
            <a:off x="4890046" y="2568625"/>
            <a:ext cx="3497759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8B949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114 000 faixas · 158 features · Popularidade &amp; Dance Hits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775246" y="3471118"/>
            <a:ext cx="3567714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80"/>
              </a:lnSpc>
              <a:buNone/>
            </a:pPr>
            <a:r>
              <a:rPr lang="en-US" sz="192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🔧</a:t>
            </a:r>
            <a:endParaRPr lang="en-US" sz="1920" dirty="0"/>
          </a:p>
        </p:txBody>
      </p:sp>
      <p:sp>
        <p:nvSpPr>
          <p:cNvPr id="15" name="Text 13"/>
          <p:cNvSpPr/>
          <p:nvPr/>
        </p:nvSpPr>
        <p:spPr>
          <a:xfrm>
            <a:off x="775246" y="3897660"/>
            <a:ext cx="3567714" cy="217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10"/>
              </a:lnSpc>
              <a:buNone/>
            </a:pPr>
            <a:r>
              <a:rPr lang="en-US" sz="1140" b="1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Preparação de Dados</a:t>
            </a:r>
            <a:endParaRPr lang="en-US" sz="1140" dirty="0"/>
          </a:p>
        </p:txBody>
      </p:sp>
      <p:sp>
        <p:nvSpPr>
          <p:cNvPr id="16" name="Text 14"/>
          <p:cNvSpPr/>
          <p:nvPr/>
        </p:nvSpPr>
        <p:spPr>
          <a:xfrm>
            <a:off x="775246" y="4160490"/>
            <a:ext cx="3497759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8B949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CRISP-DM · KNIME workflows · Limpeza &amp; Feature Engineering</a:t>
            </a:r>
            <a:endParaRPr lang="en-US" sz="960" dirty="0"/>
          </a:p>
        </p:txBody>
      </p:sp>
      <p:sp>
        <p:nvSpPr>
          <p:cNvPr id="17" name="Text 15"/>
          <p:cNvSpPr/>
          <p:nvPr/>
        </p:nvSpPr>
        <p:spPr>
          <a:xfrm>
            <a:off x="4890046" y="3471118"/>
            <a:ext cx="3567714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80"/>
              </a:lnSpc>
              <a:buNone/>
            </a:pPr>
            <a:r>
              <a:rPr lang="en-US" sz="192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📊</a:t>
            </a:r>
            <a:endParaRPr lang="en-US" sz="1920" dirty="0"/>
          </a:p>
        </p:txBody>
      </p:sp>
      <p:sp>
        <p:nvSpPr>
          <p:cNvPr id="18" name="Text 16"/>
          <p:cNvSpPr/>
          <p:nvPr/>
        </p:nvSpPr>
        <p:spPr>
          <a:xfrm>
            <a:off x="4890046" y="3897660"/>
            <a:ext cx="3567714" cy="217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10"/>
              </a:lnSpc>
              <a:buNone/>
            </a:pPr>
            <a:r>
              <a:rPr lang="en-US" sz="1140" b="1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Modelação &amp; Resultados</a:t>
            </a:r>
            <a:endParaRPr lang="en-US" sz="1140" dirty="0"/>
          </a:p>
        </p:txBody>
      </p:sp>
      <p:sp>
        <p:nvSpPr>
          <p:cNvPr id="19" name="Text 17"/>
          <p:cNvSpPr/>
          <p:nvPr/>
        </p:nvSpPr>
        <p:spPr>
          <a:xfrm>
            <a:off x="4890046" y="4160490"/>
            <a:ext cx="3497759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8B949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5 modelos regressão · 4 modelos classificação · Análise crítica</a:t>
            </a:r>
            <a:endParaRPr lang="en-US" sz="96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882848"/>
            <a:ext cx="1562695" cy="221605"/>
          </a:xfrm>
          <a:prstGeom prst="roundRect">
            <a:avLst>
              <a:gd name="adj" fmla="val 41221344"/>
            </a:avLst>
          </a:prstGeom>
          <a:solidFill>
            <a:srgbClr val="F0883E">
              <a:alpha val="12000"/>
            </a:srgbClr>
          </a:solidFill>
          <a:ln w="9525">
            <a:solidFill>
              <a:srgbClr val="F0883E"/>
            </a:solidFill>
          </a:ln>
        </p:spPr>
        <p:txBody>
          <a:bodyPr wrap="square" lIns="95250" tIns="95250" rIns="95250" bIns="95250" rtlCol="0" anchor="t">
            <a:normAutofit/>
          </a:bodyPr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F0883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Dataset Atribuído</a:t>
            </a:r>
            <a:endParaRPr lang="en-US" sz="864" dirty="0"/>
          </a:p>
        </p:txBody>
      </p:sp>
      <p:sp>
        <p:nvSpPr>
          <p:cNvPr id="3" name="Text 1"/>
          <p:cNvSpPr/>
          <p:nvPr/>
        </p:nvSpPr>
        <p:spPr>
          <a:xfrm>
            <a:off x="533400" y="1965424"/>
            <a:ext cx="2590800" cy="1027658"/>
          </a:xfrm>
          <a:prstGeom prst="roundRect">
            <a:avLst>
              <a:gd name="adj" fmla="val 106775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276600" y="1965424"/>
            <a:ext cx="2590800" cy="1027658"/>
          </a:xfrm>
          <a:prstGeom prst="roundRect">
            <a:avLst>
              <a:gd name="adj" fmla="val 106775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19800" y="1965424"/>
            <a:ext cx="2590800" cy="1027658"/>
          </a:xfrm>
          <a:prstGeom prst="roundRect">
            <a:avLst>
              <a:gd name="adj" fmla="val 106775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3206353"/>
            <a:ext cx="3962400" cy="1073348"/>
          </a:xfrm>
          <a:prstGeom prst="roundRect">
            <a:avLst>
              <a:gd name="adj" fmla="val 102230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648200" y="3206353"/>
            <a:ext cx="3962400" cy="1073348"/>
          </a:xfrm>
          <a:prstGeom prst="roundRect">
            <a:avLst>
              <a:gd name="adj" fmla="val 102230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33400" y="1165324"/>
            <a:ext cx="823874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500"/>
              </a:lnSpc>
              <a:buNone/>
            </a:pPr>
            <a:r>
              <a:rPr lang="en-US" sz="3000" dirty="0">
                <a:solidFill>
                  <a:srgbClr val="E6EDF3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Produção Energética em Portugal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34744" y="2157710"/>
            <a:ext cx="2188113" cy="434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420"/>
              </a:lnSpc>
              <a:buNone/>
            </a:pPr>
            <a:r>
              <a:rPr lang="en-US" sz="2280" b="1" dirty="0">
                <a:solidFill>
                  <a:srgbClr val="1DB95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0</a:t>
            </a:r>
            <a:endParaRPr lang="en-US" sz="2280" dirty="0"/>
          </a:p>
        </p:txBody>
      </p:sp>
      <p:sp>
        <p:nvSpPr>
          <p:cNvPr id="10" name="Text 8"/>
          <p:cNvSpPr/>
          <p:nvPr/>
        </p:nvSpPr>
        <p:spPr>
          <a:xfrm>
            <a:off x="734744" y="2622500"/>
            <a:ext cx="2188113" cy="17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4"/>
              </a:lnSpc>
              <a:buNone/>
            </a:pPr>
            <a:r>
              <a:rPr lang="en-US" sz="936" dirty="0">
                <a:solidFill>
                  <a:srgbClr val="8B949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registos</a:t>
            </a:r>
            <a:endParaRPr lang="en-US" sz="936" dirty="0"/>
          </a:p>
        </p:txBody>
      </p:sp>
      <p:sp>
        <p:nvSpPr>
          <p:cNvPr id="11" name="Text 9"/>
          <p:cNvSpPr/>
          <p:nvPr/>
        </p:nvSpPr>
        <p:spPr>
          <a:xfrm>
            <a:off x="3477944" y="2157710"/>
            <a:ext cx="2188113" cy="434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420"/>
              </a:lnSpc>
              <a:buNone/>
            </a:pPr>
            <a:r>
              <a:rPr lang="en-US" sz="2280" b="1" dirty="0">
                <a:solidFill>
                  <a:srgbClr val="1DB95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0</a:t>
            </a:r>
            <a:endParaRPr lang="en-US" sz="2280" dirty="0"/>
          </a:p>
        </p:txBody>
      </p:sp>
      <p:sp>
        <p:nvSpPr>
          <p:cNvPr id="12" name="Text 10"/>
          <p:cNvSpPr/>
          <p:nvPr/>
        </p:nvSpPr>
        <p:spPr>
          <a:xfrm>
            <a:off x="3477944" y="2622500"/>
            <a:ext cx="2188113" cy="17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4"/>
              </a:lnSpc>
              <a:buNone/>
            </a:pPr>
            <a:r>
              <a:rPr lang="en-US" sz="936" dirty="0">
                <a:solidFill>
                  <a:srgbClr val="8B949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colunas</a:t>
            </a:r>
            <a:endParaRPr lang="en-US" sz="936" dirty="0"/>
          </a:p>
        </p:txBody>
      </p:sp>
      <p:sp>
        <p:nvSpPr>
          <p:cNvPr id="13" name="Text 11"/>
          <p:cNvSpPr/>
          <p:nvPr/>
        </p:nvSpPr>
        <p:spPr>
          <a:xfrm>
            <a:off x="6221144" y="2157710"/>
            <a:ext cx="2188113" cy="434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420"/>
              </a:lnSpc>
              <a:buNone/>
            </a:pPr>
            <a:r>
              <a:rPr lang="en-US" sz="2280" b="1" dirty="0">
                <a:solidFill>
                  <a:srgbClr val="1DB95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0</a:t>
            </a:r>
            <a:endParaRPr lang="en-US" sz="2280" dirty="0"/>
          </a:p>
        </p:txBody>
      </p:sp>
      <p:sp>
        <p:nvSpPr>
          <p:cNvPr id="14" name="Text 12"/>
          <p:cNvSpPr/>
          <p:nvPr/>
        </p:nvSpPr>
        <p:spPr>
          <a:xfrm>
            <a:off x="6221144" y="2622500"/>
            <a:ext cx="2188113" cy="17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4"/>
              </a:lnSpc>
              <a:buNone/>
            </a:pPr>
            <a:r>
              <a:rPr lang="en-US" sz="936" dirty="0">
                <a:solidFill>
                  <a:srgbClr val="8B949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ano dominante</a:t>
            </a:r>
            <a:endParaRPr lang="en-US" sz="936" dirty="0"/>
          </a:p>
        </p:txBody>
      </p:sp>
      <p:sp>
        <p:nvSpPr>
          <p:cNvPr id="15" name="Text 13"/>
          <p:cNvSpPr/>
          <p:nvPr/>
        </p:nvSpPr>
        <p:spPr>
          <a:xfrm>
            <a:off x="775246" y="3398639"/>
            <a:ext cx="3567714" cy="17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4"/>
              </a:lnSpc>
              <a:buNone/>
            </a:pPr>
            <a:r>
              <a:rPr lang="en-US" sz="936" dirty="0">
                <a:solidFill>
                  <a:srgbClr val="8B949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Problema A — Classificação</a:t>
            </a:r>
            <a:endParaRPr lang="en-US" sz="936" dirty="0"/>
          </a:p>
        </p:txBody>
      </p:sp>
      <p:sp>
        <p:nvSpPr>
          <p:cNvPr id="16" name="Text 14"/>
          <p:cNvSpPr/>
          <p:nvPr/>
        </p:nvSpPr>
        <p:spPr>
          <a:xfrm>
            <a:off x="775246" y="3653135"/>
            <a:ext cx="3567714" cy="205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0"/>
              </a:lnSpc>
              <a:buNone/>
            </a:pPr>
            <a:r>
              <a:rPr lang="en-US" sz="1080" b="1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Target: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775246" y="3904655"/>
            <a:ext cx="3567714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8B949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5 classes: Alto, Médio, Baixo, MedioAlto, MedioBaixo</a:t>
            </a:r>
            <a:endParaRPr lang="en-US" sz="960" dirty="0"/>
          </a:p>
        </p:txBody>
      </p:sp>
      <p:sp>
        <p:nvSpPr>
          <p:cNvPr id="18" name="Text 16"/>
          <p:cNvSpPr/>
          <p:nvPr/>
        </p:nvSpPr>
        <p:spPr>
          <a:xfrm>
            <a:off x="4890046" y="3398639"/>
            <a:ext cx="3567714" cy="17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4"/>
              </a:lnSpc>
              <a:buNone/>
            </a:pPr>
            <a:r>
              <a:rPr lang="en-US" sz="936" dirty="0">
                <a:solidFill>
                  <a:srgbClr val="8B949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Problema B — Regressão</a:t>
            </a:r>
            <a:endParaRPr lang="en-US" sz="936" dirty="0"/>
          </a:p>
        </p:txBody>
      </p:sp>
      <p:sp>
        <p:nvSpPr>
          <p:cNvPr id="19" name="Text 17"/>
          <p:cNvSpPr/>
          <p:nvPr/>
        </p:nvSpPr>
        <p:spPr>
          <a:xfrm>
            <a:off x="4890046" y="3653135"/>
            <a:ext cx="3567714" cy="205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0"/>
              </a:lnSpc>
              <a:buNone/>
            </a:pPr>
            <a:r>
              <a:rPr lang="en-US" sz="1080" b="1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Target: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4890046" y="3904655"/>
            <a:ext cx="3567714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8B949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Prevista com variáveis meteorológicas e temporais</a:t>
            </a:r>
            <a:endParaRPr lang="en-US" sz="9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187077"/>
            <a:ext cx="1510754" cy="221605"/>
          </a:xfrm>
          <a:prstGeom prst="roundRect">
            <a:avLst>
              <a:gd name="adj" fmla="val 41221344"/>
            </a:avLst>
          </a:prstGeom>
          <a:solidFill>
            <a:srgbClr val="F0883E">
              <a:alpha val="12000"/>
            </a:srgbClr>
          </a:solidFill>
          <a:ln w="9525">
            <a:solidFill>
              <a:srgbClr val="F0883E"/>
            </a:solidFill>
          </a:ln>
        </p:spPr>
        <p:txBody>
          <a:bodyPr wrap="square" lIns="95250" tIns="95250" rIns="95250" bIns="95250" rtlCol="0" anchor="t">
            <a:normAutofit/>
          </a:bodyPr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F0883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 Preparation</a:t>
            </a:r>
            <a:endParaRPr lang="en-US" sz="864" dirty="0"/>
          </a:p>
        </p:txBody>
      </p:sp>
      <p:sp>
        <p:nvSpPr>
          <p:cNvPr id="3" name="Text 1"/>
          <p:cNvSpPr/>
          <p:nvPr/>
        </p:nvSpPr>
        <p:spPr>
          <a:xfrm>
            <a:off x="533400" y="1231553"/>
            <a:ext cx="8077200" cy="794296"/>
          </a:xfrm>
          <a:prstGeom prst="roundRect">
            <a:avLst>
              <a:gd name="adj" fmla="val 138145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33400" y="2147739"/>
            <a:ext cx="8077200" cy="794296"/>
          </a:xfrm>
          <a:prstGeom prst="roundRect">
            <a:avLst>
              <a:gd name="adj" fmla="val 138145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3063925"/>
            <a:ext cx="8077200" cy="794296"/>
          </a:xfrm>
          <a:prstGeom prst="roundRect">
            <a:avLst>
              <a:gd name="adj" fmla="val 138145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3980111"/>
            <a:ext cx="8077200" cy="995363"/>
          </a:xfrm>
          <a:prstGeom prst="roundRect">
            <a:avLst>
              <a:gd name="adj" fmla="val 110239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33400" y="469553"/>
            <a:ext cx="8238744" cy="548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880" dirty="0">
                <a:solidFill>
                  <a:srgbClr val="E6EDF3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Desafios e Decisões</a:t>
            </a:r>
            <a:endParaRPr lang="en-US" sz="2880" dirty="0"/>
          </a:p>
        </p:txBody>
      </p:sp>
      <p:sp>
        <p:nvSpPr>
          <p:cNvPr id="8" name="Text 6"/>
          <p:cNvSpPr/>
          <p:nvPr/>
        </p:nvSpPr>
        <p:spPr>
          <a:xfrm>
            <a:off x="775246" y="1423839"/>
            <a:ext cx="204026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40"/>
              </a:lnSpc>
              <a:buNone/>
            </a:pPr>
            <a:r>
              <a:rPr lang="en-US" sz="156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🗑️</a:t>
            </a:r>
            <a:endParaRPr lang="en-US" sz="1560" dirty="0"/>
          </a:p>
        </p:txBody>
      </p:sp>
      <p:sp>
        <p:nvSpPr>
          <p:cNvPr id="9" name="Text 7"/>
          <p:cNvSpPr/>
          <p:nvPr/>
        </p:nvSpPr>
        <p:spPr>
          <a:xfrm>
            <a:off x="1097161" y="1423839"/>
            <a:ext cx="6023610" cy="201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4"/>
              </a:lnSpc>
              <a:buNone/>
            </a:pPr>
            <a:r>
              <a:rPr lang="en-US" sz="1056" b="1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Remoção de colunas — rain (79,9%) e precipitation (80,0%) em falta</a:t>
            </a:r>
            <a:endParaRPr lang="en-US" sz="1056" dirty="0"/>
          </a:p>
        </p:txBody>
      </p:sp>
      <p:sp>
        <p:nvSpPr>
          <p:cNvPr id="10" name="Text 8"/>
          <p:cNvSpPr/>
          <p:nvPr/>
        </p:nvSpPr>
        <p:spPr>
          <a:xfrm>
            <a:off x="1097161" y="1655266"/>
            <a:ext cx="6023610" cy="17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4"/>
              </a:lnSpc>
              <a:buNone/>
            </a:pPr>
            <a:r>
              <a:rPr lang="en-US" sz="936" dirty="0">
                <a:solidFill>
                  <a:srgbClr val="8B949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Restantes colunas com ~10% de NaN → imputação por média/mediana separada em treino e teste</a:t>
            </a:r>
            <a:endParaRPr lang="en-US" sz="936" dirty="0"/>
          </a:p>
        </p:txBody>
      </p:sp>
      <p:sp>
        <p:nvSpPr>
          <p:cNvPr id="11" name="Text 9"/>
          <p:cNvSpPr/>
          <p:nvPr/>
        </p:nvSpPr>
        <p:spPr>
          <a:xfrm>
            <a:off x="775246" y="2340025"/>
            <a:ext cx="204026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40"/>
              </a:lnSpc>
              <a:buNone/>
            </a:pPr>
            <a:r>
              <a:rPr lang="en-US" sz="156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🔤</a:t>
            </a:r>
            <a:endParaRPr lang="en-US" sz="1560" dirty="0"/>
          </a:p>
        </p:txBody>
      </p:sp>
      <p:sp>
        <p:nvSpPr>
          <p:cNvPr id="12" name="Text 10"/>
          <p:cNvSpPr/>
          <p:nvPr/>
        </p:nvSpPr>
        <p:spPr>
          <a:xfrm>
            <a:off x="1097161" y="2340025"/>
            <a:ext cx="6609424" cy="201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4"/>
              </a:lnSpc>
              <a:buNone/>
            </a:pPr>
            <a:r>
              <a:rPr lang="en-US" sz="1056" b="1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Normalização de </a:t>
            </a:r>
            <a:pPr indent="0" marL="0">
              <a:lnSpc>
                <a:spcPts val="1584"/>
              </a:lnSpc>
              <a:buNone/>
            </a:pPr>
            <a:r>
              <a:rPr lang="en-US" sz="1056" b="1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— "Hgh" → Alto, "Lw" → Baixo, "MedLow" → MedioBaixo</a:t>
            </a:r>
            <a:endParaRPr lang="en-US" sz="1056" dirty="0"/>
          </a:p>
        </p:txBody>
      </p:sp>
      <p:sp>
        <p:nvSpPr>
          <p:cNvPr id="13" name="Text 11"/>
          <p:cNvSpPr/>
          <p:nvPr/>
        </p:nvSpPr>
        <p:spPr>
          <a:xfrm>
            <a:off x="1097161" y="2571452"/>
            <a:ext cx="6609424" cy="17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4"/>
              </a:lnSpc>
              <a:buNone/>
            </a:pPr>
            <a:r>
              <a:rPr lang="en-US" sz="936" dirty="0">
                <a:solidFill>
                  <a:srgbClr val="8B949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11 variantes distintas reduzidas a 5 classes finais consistentes</a:t>
            </a:r>
            <a:endParaRPr lang="en-US" sz="936" dirty="0"/>
          </a:p>
        </p:txBody>
      </p:sp>
      <p:sp>
        <p:nvSpPr>
          <p:cNvPr id="14" name="Text 12"/>
          <p:cNvSpPr/>
          <p:nvPr/>
        </p:nvSpPr>
        <p:spPr>
          <a:xfrm>
            <a:off x="775246" y="3256211"/>
            <a:ext cx="204026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40"/>
              </a:lnSpc>
              <a:buNone/>
            </a:pPr>
            <a:r>
              <a:rPr lang="en-US" sz="156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📅</a:t>
            </a:r>
            <a:endParaRPr lang="en-US" sz="1560" dirty="0"/>
          </a:p>
        </p:txBody>
      </p:sp>
      <p:sp>
        <p:nvSpPr>
          <p:cNvPr id="15" name="Text 13"/>
          <p:cNvSpPr/>
          <p:nvPr/>
        </p:nvSpPr>
        <p:spPr>
          <a:xfrm>
            <a:off x="1097161" y="3256211"/>
            <a:ext cx="6756675" cy="201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4"/>
              </a:lnSpc>
              <a:buNone/>
            </a:pPr>
            <a:r>
              <a:rPr lang="en-US" sz="1056" b="1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Extração temporal da coluna DateTime — Hour, Month, DayOfWeek, Season, isWeekend</a:t>
            </a:r>
            <a:endParaRPr lang="en-US" sz="1056" dirty="0"/>
          </a:p>
        </p:txBody>
      </p:sp>
      <p:sp>
        <p:nvSpPr>
          <p:cNvPr id="16" name="Text 14"/>
          <p:cNvSpPr/>
          <p:nvPr/>
        </p:nvSpPr>
        <p:spPr>
          <a:xfrm>
            <a:off x="1097161" y="3487638"/>
            <a:ext cx="6756675" cy="17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4"/>
              </a:lnSpc>
              <a:buNone/>
            </a:pPr>
            <a:r>
              <a:rPr lang="en-US" sz="936" dirty="0">
                <a:solidFill>
                  <a:srgbClr val="8B949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Padres diários e sazonais essenciais para prever produção fotovoltaica</a:t>
            </a:r>
            <a:endParaRPr lang="en-US" sz="936" dirty="0"/>
          </a:p>
        </p:txBody>
      </p:sp>
      <p:sp>
        <p:nvSpPr>
          <p:cNvPr id="17" name="Text 15"/>
          <p:cNvSpPr/>
          <p:nvPr/>
        </p:nvSpPr>
        <p:spPr>
          <a:xfrm>
            <a:off x="775246" y="4172396"/>
            <a:ext cx="204026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40"/>
              </a:lnSpc>
              <a:buNone/>
            </a:pPr>
            <a:r>
              <a:rPr lang="en-US" sz="156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🔀</a:t>
            </a:r>
            <a:endParaRPr lang="en-US" sz="1560" dirty="0"/>
          </a:p>
        </p:txBody>
      </p:sp>
      <p:sp>
        <p:nvSpPr>
          <p:cNvPr id="18" name="Text 16"/>
          <p:cNvSpPr/>
          <p:nvPr/>
        </p:nvSpPr>
        <p:spPr>
          <a:xfrm>
            <a:off x="1097161" y="4172396"/>
            <a:ext cx="7290643" cy="402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4"/>
              </a:lnSpc>
              <a:buNone/>
            </a:pPr>
            <a:r>
              <a:rPr lang="en-US" sz="1056" b="1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5 branches experimentais — Except-Photovoltaics, Energy-only, Distribution-only, WeatherTime-only, Reg</a:t>
            </a:r>
            <a:endParaRPr lang="en-US" sz="1056" dirty="0"/>
          </a:p>
        </p:txBody>
      </p:sp>
      <p:sp>
        <p:nvSpPr>
          <p:cNvPr id="19" name="Text 17"/>
          <p:cNvSpPr/>
          <p:nvPr/>
        </p:nvSpPr>
        <p:spPr>
          <a:xfrm>
            <a:off x="1097161" y="4604891"/>
            <a:ext cx="7436456" cy="17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4"/>
              </a:lnSpc>
              <a:buNone/>
            </a:pPr>
            <a:r>
              <a:rPr lang="en-US" sz="936" dirty="0">
                <a:solidFill>
                  <a:srgbClr val="8B949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Separação entre modelos explicativos vs. cenários realistas sem data leakage</a:t>
            </a:r>
            <a:endParaRPr lang="en-US" sz="936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1166515"/>
            <a:ext cx="1984325" cy="221605"/>
          </a:xfrm>
          <a:prstGeom prst="roundRect">
            <a:avLst>
              <a:gd name="adj" fmla="val 41221344"/>
            </a:avLst>
          </a:prstGeom>
          <a:solidFill>
            <a:srgbClr val="F0883E">
              <a:alpha val="12000"/>
            </a:srgbClr>
          </a:solidFill>
          <a:ln w="9525">
            <a:solidFill>
              <a:srgbClr val="F0883E"/>
            </a:solidFill>
          </a:ln>
        </p:spPr>
        <p:txBody>
          <a:bodyPr wrap="square" lIns="95250" tIns="95250" rIns="95250" bIns="95250" rtlCol="0" anchor="t">
            <a:normAutofit/>
          </a:bodyPr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F0883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Resultados — Atribuído</a:t>
            </a:r>
            <a:endParaRPr lang="en-US" sz="864" dirty="0"/>
          </a:p>
        </p:txBody>
      </p:sp>
      <p:sp>
        <p:nvSpPr>
          <p:cNvPr id="3" name="Text 1"/>
          <p:cNvSpPr/>
          <p:nvPr/>
        </p:nvSpPr>
        <p:spPr>
          <a:xfrm>
            <a:off x="2552700" y="2201168"/>
            <a:ext cx="5486400" cy="95250"/>
          </a:xfrm>
          <a:prstGeom prst="roundRect">
            <a:avLst>
              <a:gd name="adj" fmla="val 384000"/>
            </a:avLst>
          </a:prstGeom>
          <a:solidFill>
            <a:srgbClr val="FFFFFF">
              <a:alpha val="6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552700" y="2475309"/>
            <a:ext cx="5486400" cy="95250"/>
          </a:xfrm>
          <a:prstGeom prst="roundRect">
            <a:avLst>
              <a:gd name="adj" fmla="val 384000"/>
            </a:avLst>
          </a:prstGeom>
          <a:solidFill>
            <a:srgbClr val="FFFFFF">
              <a:alpha val="6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552700" y="2749451"/>
            <a:ext cx="5486400" cy="95250"/>
          </a:xfrm>
          <a:prstGeom prst="roundRect">
            <a:avLst>
              <a:gd name="adj" fmla="val 384000"/>
            </a:avLst>
          </a:prstGeom>
          <a:solidFill>
            <a:srgbClr val="FFFFFF">
              <a:alpha val="6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552700" y="3023592"/>
            <a:ext cx="5486400" cy="95250"/>
          </a:xfrm>
          <a:prstGeom prst="roundRect">
            <a:avLst>
              <a:gd name="adj" fmla="val 384000"/>
            </a:avLst>
          </a:prstGeom>
          <a:solidFill>
            <a:srgbClr val="FFFFFF">
              <a:alpha val="6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33400" y="3314998"/>
            <a:ext cx="8077200" cy="681038"/>
          </a:xfrm>
          <a:prstGeom prst="roundRect">
            <a:avLst>
              <a:gd name="adj" fmla="val 134266"/>
            </a:avLst>
          </a:prstGeom>
          <a:solidFill>
            <a:srgbClr val="1DB954">
              <a:alpha val="6000"/>
            </a:srgbClr>
          </a:solidFill>
          <a:ln w="9525">
            <a:solidFill>
              <a:srgbClr val="1DB954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33400" y="1448991"/>
            <a:ext cx="8238744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140"/>
              </a:lnSpc>
              <a:buNone/>
            </a:pPr>
            <a:r>
              <a:rPr lang="en-US" sz="2760" dirty="0">
                <a:solidFill>
                  <a:srgbClr val="E6EDF3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Classificação: </a:t>
            </a:r>
            <a:pPr indent="0" marL="0">
              <a:lnSpc>
                <a:spcPts val="4140"/>
              </a:lnSpc>
              <a:buNone/>
            </a:pPr>
            <a:r>
              <a:rPr lang="en-US" sz="2760" i="1" dirty="0">
                <a:solidFill>
                  <a:srgbClr val="E6EDF3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Productions</a:t>
            </a:r>
            <a:endParaRPr lang="en-US" sz="2760" dirty="0"/>
          </a:p>
        </p:txBody>
      </p:sp>
      <p:sp>
        <p:nvSpPr>
          <p:cNvPr id="9" name="Text 7"/>
          <p:cNvSpPr/>
          <p:nvPr/>
        </p:nvSpPr>
        <p:spPr>
          <a:xfrm>
            <a:off x="533400" y="2157413"/>
            <a:ext cx="194310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GBT · Except-Photo</a:t>
            </a:r>
            <a:endParaRPr lang="en-US" sz="960" dirty="0"/>
          </a:p>
        </p:txBody>
      </p:sp>
      <p:sp>
        <p:nvSpPr>
          <p:cNvPr id="10" name="Text 8"/>
          <p:cNvSpPr/>
          <p:nvPr/>
        </p:nvSpPr>
        <p:spPr>
          <a:xfrm>
            <a:off x="8144256" y="2157413"/>
            <a:ext cx="466344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40"/>
              </a:lnSpc>
              <a:buNone/>
            </a:pPr>
            <a:r>
              <a:rPr lang="en-US" sz="960" b="1" dirty="0">
                <a:solidFill>
                  <a:srgbClr val="1DB95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93.4%</a:t>
            </a:r>
            <a:endParaRPr lang="en-US" sz="960" dirty="0"/>
          </a:p>
        </p:txBody>
      </p:sp>
      <p:sp>
        <p:nvSpPr>
          <p:cNvPr id="11" name="Text 9"/>
          <p:cNvSpPr/>
          <p:nvPr/>
        </p:nvSpPr>
        <p:spPr>
          <a:xfrm>
            <a:off x="533400" y="2431554"/>
            <a:ext cx="194310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RF · Energy-only</a:t>
            </a:r>
            <a:endParaRPr lang="en-US" sz="960" dirty="0"/>
          </a:p>
        </p:txBody>
      </p:sp>
      <p:sp>
        <p:nvSpPr>
          <p:cNvPr id="12" name="Text 10"/>
          <p:cNvSpPr/>
          <p:nvPr/>
        </p:nvSpPr>
        <p:spPr>
          <a:xfrm>
            <a:off x="8144256" y="2431554"/>
            <a:ext cx="466344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40"/>
              </a:lnSpc>
              <a:buNone/>
            </a:pPr>
            <a:r>
              <a:rPr lang="en-US" sz="960" b="1" dirty="0">
                <a:solidFill>
                  <a:srgbClr val="1DB95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93.6%</a:t>
            </a:r>
            <a:endParaRPr lang="en-US" sz="960" dirty="0"/>
          </a:p>
        </p:txBody>
      </p:sp>
      <p:sp>
        <p:nvSpPr>
          <p:cNvPr id="13" name="Text 11"/>
          <p:cNvSpPr/>
          <p:nvPr/>
        </p:nvSpPr>
        <p:spPr>
          <a:xfrm>
            <a:off x="533400" y="2705695"/>
            <a:ext cx="194310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RF · WeatherTime-only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8144256" y="2705695"/>
            <a:ext cx="466344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40"/>
              </a:lnSpc>
              <a:buNone/>
            </a:pPr>
            <a:r>
              <a:rPr lang="en-US" sz="960" b="1" dirty="0">
                <a:solidFill>
                  <a:srgbClr val="F0883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63.7%</a:t>
            </a:r>
            <a:endParaRPr lang="en-US" sz="960" dirty="0"/>
          </a:p>
        </p:txBody>
      </p:sp>
      <p:sp>
        <p:nvSpPr>
          <p:cNvPr id="15" name="Text 13"/>
          <p:cNvSpPr/>
          <p:nvPr/>
        </p:nvSpPr>
        <p:spPr>
          <a:xfrm>
            <a:off x="533400" y="2979837"/>
            <a:ext cx="194310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Neural Network · WeatherTime</a:t>
            </a:r>
            <a:endParaRPr lang="en-US" sz="960" dirty="0"/>
          </a:p>
        </p:txBody>
      </p:sp>
      <p:sp>
        <p:nvSpPr>
          <p:cNvPr id="16" name="Text 14"/>
          <p:cNvSpPr/>
          <p:nvPr/>
        </p:nvSpPr>
        <p:spPr>
          <a:xfrm>
            <a:off x="8144256" y="2979837"/>
            <a:ext cx="466344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40"/>
              </a:lnSpc>
              <a:buNone/>
            </a:pPr>
            <a:r>
              <a:rPr lang="en-US" sz="960" b="1" dirty="0">
                <a:solidFill>
                  <a:srgbClr val="8B949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44.5%</a:t>
            </a:r>
            <a:endParaRPr lang="en-US" sz="960" dirty="0"/>
          </a:p>
        </p:txBody>
      </p:sp>
      <p:sp>
        <p:nvSpPr>
          <p:cNvPr id="17" name="Text 15"/>
          <p:cNvSpPr/>
          <p:nvPr/>
        </p:nvSpPr>
        <p:spPr>
          <a:xfrm>
            <a:off x="695325" y="3446413"/>
            <a:ext cx="7908417" cy="17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4"/>
              </a:lnSpc>
              <a:buNone/>
            </a:pPr>
            <a:r>
              <a:rPr lang="en-US" sz="936" dirty="0">
                <a:solidFill>
                  <a:srgbClr val="8B949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Regressão — Photovoltaics kWh</a:t>
            </a:r>
            <a:endParaRPr lang="en-US" sz="936" dirty="0"/>
          </a:p>
        </p:txBody>
      </p:sp>
      <p:sp>
        <p:nvSpPr>
          <p:cNvPr id="18" name="Text 16"/>
          <p:cNvSpPr/>
          <p:nvPr/>
        </p:nvSpPr>
        <p:spPr>
          <a:xfrm>
            <a:off x="695325" y="3689449"/>
            <a:ext cx="121944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30"/>
              </a:lnSpc>
              <a:buNone/>
            </a:pPr>
            <a:r>
              <a:rPr lang="en-US" sz="1020" dirty="0">
                <a:solidFill>
                  <a:srgbClr val="8B949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Linear Regression: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4617690" y="3689449"/>
            <a:ext cx="11474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30"/>
              </a:lnSpc>
              <a:buNone/>
            </a:pPr>
            <a:r>
              <a:rPr lang="en-US" sz="1020" dirty="0">
                <a:solidFill>
                  <a:srgbClr val="8B949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Simple Reg. Tree:</a:t>
            </a:r>
            <a:endParaRPr lang="en-US" sz="10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898178"/>
            <a:ext cx="1303734" cy="221605"/>
          </a:xfrm>
          <a:prstGeom prst="roundRect">
            <a:avLst>
              <a:gd name="adj" fmla="val 41221344"/>
            </a:avLst>
          </a:prstGeom>
          <a:solidFill>
            <a:srgbClr val="1DB954">
              <a:alpha val="12000"/>
            </a:srgbClr>
          </a:solidFill>
          <a:ln w="9525">
            <a:solidFill>
              <a:srgbClr val="1DB954"/>
            </a:solidFill>
          </a:ln>
        </p:spPr>
        <p:txBody>
          <a:bodyPr wrap="square" lIns="95250" tIns="95250" rIns="95250" bIns="95250" rtlCol="0" anchor="t">
            <a:normAutofit/>
          </a:bodyPr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1DB95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Dataset Grupo</a:t>
            </a:r>
            <a:endParaRPr lang="en-US" sz="864" dirty="0"/>
          </a:p>
        </p:txBody>
      </p:sp>
      <p:sp>
        <p:nvSpPr>
          <p:cNvPr id="3" name="Text 1"/>
          <p:cNvSpPr/>
          <p:nvPr/>
        </p:nvSpPr>
        <p:spPr>
          <a:xfrm>
            <a:off x="533400" y="2033885"/>
            <a:ext cx="1916460" cy="947589"/>
          </a:xfrm>
          <a:prstGeom prst="roundRect">
            <a:avLst>
              <a:gd name="adj" fmla="val 115797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586930" y="2033885"/>
            <a:ext cx="1916460" cy="947589"/>
          </a:xfrm>
          <a:prstGeom prst="roundRect">
            <a:avLst>
              <a:gd name="adj" fmla="val 115797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640461" y="2033885"/>
            <a:ext cx="1916460" cy="947589"/>
          </a:xfrm>
          <a:prstGeom prst="roundRect">
            <a:avLst>
              <a:gd name="adj" fmla="val 115797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693991" y="2033885"/>
            <a:ext cx="1916609" cy="947589"/>
          </a:xfrm>
          <a:prstGeom prst="roundRect">
            <a:avLst>
              <a:gd name="adj" fmla="val 115797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33400" y="3179564"/>
            <a:ext cx="3962400" cy="1084659"/>
          </a:xfrm>
          <a:prstGeom prst="roundRect">
            <a:avLst>
              <a:gd name="adj" fmla="val 101164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648200" y="3179564"/>
            <a:ext cx="3962400" cy="1084659"/>
          </a:xfrm>
          <a:prstGeom prst="roundRect">
            <a:avLst>
              <a:gd name="adj" fmla="val 101164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33400" y="1180654"/>
            <a:ext cx="8238744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040"/>
              </a:lnSpc>
              <a:buNone/>
            </a:pPr>
            <a:r>
              <a:rPr lang="en-US" sz="3360" dirty="0">
                <a:solidFill>
                  <a:srgbClr val="E6EDF3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Spotify Dataset for ML Practice</a:t>
            </a:r>
            <a:endParaRPr lang="en-US" sz="3360" dirty="0"/>
          </a:p>
        </p:txBody>
      </p:sp>
      <p:sp>
        <p:nvSpPr>
          <p:cNvPr id="10" name="Text 8"/>
          <p:cNvSpPr/>
          <p:nvPr/>
        </p:nvSpPr>
        <p:spPr>
          <a:xfrm>
            <a:off x="741487" y="2226171"/>
            <a:ext cx="1500286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80"/>
              </a:lnSpc>
              <a:buNone/>
            </a:pPr>
            <a:r>
              <a:rPr lang="en-US" sz="1920" b="1" dirty="0">
                <a:solidFill>
                  <a:srgbClr val="1DB95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0</a:t>
            </a:r>
            <a:endParaRPr lang="en-US" sz="1920" dirty="0"/>
          </a:p>
        </p:txBody>
      </p:sp>
      <p:sp>
        <p:nvSpPr>
          <p:cNvPr id="11" name="Text 9"/>
          <p:cNvSpPr/>
          <p:nvPr/>
        </p:nvSpPr>
        <p:spPr>
          <a:xfrm>
            <a:off x="741487" y="2622203"/>
            <a:ext cx="1500286" cy="166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14"/>
              </a:lnSpc>
              <a:buNone/>
            </a:pPr>
            <a:r>
              <a:rPr lang="en-US" sz="876" dirty="0">
                <a:solidFill>
                  <a:srgbClr val="8B949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faixas musicais</a:t>
            </a:r>
            <a:endParaRPr lang="en-US" sz="876" dirty="0"/>
          </a:p>
        </p:txBody>
      </p:sp>
      <p:sp>
        <p:nvSpPr>
          <p:cNvPr id="12" name="Text 10"/>
          <p:cNvSpPr/>
          <p:nvPr/>
        </p:nvSpPr>
        <p:spPr>
          <a:xfrm>
            <a:off x="2795017" y="2226171"/>
            <a:ext cx="1500286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80"/>
              </a:lnSpc>
              <a:buNone/>
            </a:pPr>
            <a:r>
              <a:rPr lang="en-US" sz="1920" b="1" dirty="0">
                <a:solidFill>
                  <a:srgbClr val="1DB95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0</a:t>
            </a:r>
            <a:endParaRPr lang="en-US" sz="1920" dirty="0"/>
          </a:p>
        </p:txBody>
      </p:sp>
      <p:sp>
        <p:nvSpPr>
          <p:cNvPr id="13" name="Text 11"/>
          <p:cNvSpPr/>
          <p:nvPr/>
        </p:nvSpPr>
        <p:spPr>
          <a:xfrm>
            <a:off x="2795017" y="2622203"/>
            <a:ext cx="1500286" cy="166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14"/>
              </a:lnSpc>
              <a:buNone/>
            </a:pPr>
            <a:r>
              <a:rPr lang="en-US" sz="876" dirty="0">
                <a:solidFill>
                  <a:srgbClr val="8B949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features (FE)</a:t>
            </a:r>
            <a:endParaRPr lang="en-US" sz="876" dirty="0"/>
          </a:p>
        </p:txBody>
      </p:sp>
      <p:sp>
        <p:nvSpPr>
          <p:cNvPr id="14" name="Text 12"/>
          <p:cNvSpPr/>
          <p:nvPr/>
        </p:nvSpPr>
        <p:spPr>
          <a:xfrm>
            <a:off x="4848548" y="2226171"/>
            <a:ext cx="1500286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80"/>
              </a:lnSpc>
              <a:buNone/>
            </a:pPr>
            <a:r>
              <a:rPr lang="en-US" sz="1920" b="1" dirty="0">
                <a:solidFill>
                  <a:srgbClr val="1DB95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0</a:t>
            </a:r>
            <a:endParaRPr lang="en-US" sz="1920" dirty="0"/>
          </a:p>
        </p:txBody>
      </p:sp>
      <p:sp>
        <p:nvSpPr>
          <p:cNvPr id="15" name="Text 13"/>
          <p:cNvSpPr/>
          <p:nvPr/>
        </p:nvSpPr>
        <p:spPr>
          <a:xfrm>
            <a:off x="4848548" y="2622203"/>
            <a:ext cx="1500286" cy="166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14"/>
              </a:lnSpc>
              <a:buNone/>
            </a:pPr>
            <a:r>
              <a:rPr lang="en-US" sz="876" dirty="0">
                <a:solidFill>
                  <a:srgbClr val="8B949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géneros musicais</a:t>
            </a:r>
            <a:endParaRPr lang="en-US" sz="876" dirty="0"/>
          </a:p>
        </p:txBody>
      </p:sp>
      <p:sp>
        <p:nvSpPr>
          <p:cNvPr id="16" name="Text 14"/>
          <p:cNvSpPr/>
          <p:nvPr/>
        </p:nvSpPr>
        <p:spPr>
          <a:xfrm>
            <a:off x="6902077" y="2226171"/>
            <a:ext cx="1500438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80"/>
              </a:lnSpc>
              <a:buNone/>
            </a:pPr>
            <a:r>
              <a:rPr lang="en-US" sz="1920" b="1" dirty="0">
                <a:solidFill>
                  <a:srgbClr val="1DB95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0</a:t>
            </a:r>
            <a:endParaRPr lang="en-US" sz="1920" dirty="0"/>
          </a:p>
        </p:txBody>
      </p:sp>
      <p:sp>
        <p:nvSpPr>
          <p:cNvPr id="17" name="Text 15"/>
          <p:cNvSpPr/>
          <p:nvPr/>
        </p:nvSpPr>
        <p:spPr>
          <a:xfrm>
            <a:off x="6902077" y="2622203"/>
            <a:ext cx="1500438" cy="166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14"/>
              </a:lnSpc>
              <a:buNone/>
            </a:pPr>
            <a:r>
              <a:rPr lang="en-US" sz="876" dirty="0">
                <a:solidFill>
                  <a:srgbClr val="8B949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atributos originais</a:t>
            </a:r>
            <a:endParaRPr lang="en-US" sz="876" dirty="0"/>
          </a:p>
        </p:txBody>
      </p:sp>
      <p:sp>
        <p:nvSpPr>
          <p:cNvPr id="18" name="Text 16"/>
          <p:cNvSpPr/>
          <p:nvPr/>
        </p:nvSpPr>
        <p:spPr>
          <a:xfrm>
            <a:off x="775246" y="3371850"/>
            <a:ext cx="356771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8B949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Regressão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75246" y="3893641"/>
            <a:ext cx="3567714" cy="17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4"/>
              </a:lnSpc>
              <a:buNone/>
            </a:pPr>
            <a:r>
              <a:rPr lang="en-US" sz="936" dirty="0">
                <a:solidFill>
                  <a:srgbClr val="8B949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Escala Z-Score da popularidade (0–100 → normalizada)</a:t>
            </a:r>
            <a:endParaRPr lang="en-US" sz="936" dirty="0"/>
          </a:p>
        </p:txBody>
      </p:sp>
      <p:sp>
        <p:nvSpPr>
          <p:cNvPr id="20" name="Text 18"/>
          <p:cNvSpPr/>
          <p:nvPr/>
        </p:nvSpPr>
        <p:spPr>
          <a:xfrm>
            <a:off x="4890046" y="3371850"/>
            <a:ext cx="356771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8B949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Classificação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90046" y="3893641"/>
            <a:ext cx="3567714" cy="17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4"/>
              </a:lnSpc>
              <a:buNone/>
            </a:pPr>
            <a:r>
              <a:rPr lang="en-US" sz="936" dirty="0">
                <a:solidFill>
                  <a:srgbClr val="8B949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danceability ≥ 0.7 AND energy ≥ 0.6 → binário</a:t>
            </a:r>
            <a:endParaRPr lang="en-US" sz="936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828377"/>
            <a:ext cx="1747838" cy="221605"/>
          </a:xfrm>
          <a:prstGeom prst="roundRect">
            <a:avLst>
              <a:gd name="adj" fmla="val 41221344"/>
            </a:avLst>
          </a:prstGeom>
          <a:solidFill>
            <a:srgbClr val="1DB954">
              <a:alpha val="12000"/>
            </a:srgbClr>
          </a:solidFill>
          <a:ln w="9525">
            <a:solidFill>
              <a:srgbClr val="1DB954"/>
            </a:solidFill>
          </a:ln>
        </p:spPr>
        <p:txBody>
          <a:bodyPr wrap="square" lIns="95250" tIns="95250" rIns="95250" bIns="95250" rtlCol="0" anchor="t">
            <a:normAutofit/>
          </a:bodyPr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1DB95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Feature Engineering</a:t>
            </a:r>
            <a:endParaRPr lang="en-US" sz="864" dirty="0"/>
          </a:p>
        </p:txBody>
      </p:sp>
      <p:sp>
        <p:nvSpPr>
          <p:cNvPr id="3" name="Text 1"/>
          <p:cNvSpPr/>
          <p:nvPr/>
        </p:nvSpPr>
        <p:spPr>
          <a:xfrm>
            <a:off x="533400" y="1819275"/>
            <a:ext cx="3977580" cy="1450777"/>
          </a:xfrm>
          <a:prstGeom prst="roundRect">
            <a:avLst>
              <a:gd name="adj" fmla="val 75634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632871" y="1819275"/>
            <a:ext cx="3977729" cy="1450777"/>
          </a:xfrm>
          <a:prstGeom prst="roundRect">
            <a:avLst>
              <a:gd name="adj" fmla="val 75634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3391942"/>
            <a:ext cx="8077200" cy="942082"/>
          </a:xfrm>
          <a:prstGeom prst="roundRect">
            <a:avLst>
              <a:gd name="adj" fmla="val 116474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1110853"/>
            <a:ext cx="8238744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140"/>
              </a:lnSpc>
              <a:buNone/>
            </a:pPr>
            <a:r>
              <a:rPr lang="en-US" sz="2760" dirty="0">
                <a:solidFill>
                  <a:srgbClr val="E6EDF3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De 24 para 158 colunas</a:t>
            </a:r>
            <a:endParaRPr lang="en-US" sz="2760" dirty="0"/>
          </a:p>
        </p:txBody>
      </p:sp>
      <p:sp>
        <p:nvSpPr>
          <p:cNvPr id="7" name="Text 5"/>
          <p:cNvSpPr/>
          <p:nvPr/>
        </p:nvSpPr>
        <p:spPr>
          <a:xfrm>
            <a:off x="775246" y="2011561"/>
            <a:ext cx="358319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DB95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Originais (24)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5246" y="2259211"/>
            <a:ext cx="3512939" cy="621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2"/>
              </a:lnSpc>
              <a:buNone/>
            </a:pPr>
            <a:r>
              <a:rPr lang="en-US" sz="960" dirty="0">
                <a:solidFill>
                  <a:srgbClr val="8B949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danceability · energy · loudness · speechiness · acousticness · instrumentalness · liveness · valence · tempo · duration_ms · key · mode · track_genre</a:t>
            </a:r>
            <a:endParaRPr lang="en-US" sz="960" dirty="0"/>
          </a:p>
        </p:txBody>
      </p:sp>
      <p:sp>
        <p:nvSpPr>
          <p:cNvPr id="9" name="Text 7"/>
          <p:cNvSpPr/>
          <p:nvPr/>
        </p:nvSpPr>
        <p:spPr>
          <a:xfrm>
            <a:off x="4874716" y="2011561"/>
            <a:ext cx="35833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58A6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Derivadas (+134)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874716" y="2259211"/>
            <a:ext cx="3513088" cy="818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12"/>
              </a:lnSpc>
              <a:buNone/>
            </a:pPr>
            <a:r>
              <a:rPr lang="en-US" sz="948" dirty="0">
                <a:solidFill>
                  <a:srgbClr val="8B949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114 one-hot géneros · interações (happy_dance, loud_energy_ratio) · transformações cíclicas (key_sin/cos) · clusters de mood · percentis de ranking · variáveis binárias</a:t>
            </a:r>
            <a:endParaRPr lang="en-US" sz="948" dirty="0"/>
          </a:p>
        </p:txBody>
      </p:sp>
      <p:sp>
        <p:nvSpPr>
          <p:cNvPr id="11" name="Text 9"/>
          <p:cNvSpPr/>
          <p:nvPr/>
        </p:nvSpPr>
        <p:spPr>
          <a:xfrm>
            <a:off x="756787" y="3584228"/>
            <a:ext cx="18828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DB95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+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56787" y="3812828"/>
            <a:ext cx="1882834" cy="164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96"/>
              </a:lnSpc>
              <a:buNone/>
            </a:pPr>
            <a:r>
              <a:rPr lang="en-US" sz="864" dirty="0">
                <a:solidFill>
                  <a:srgbClr val="8B949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Correlação</a:t>
            </a:r>
            <a:endParaRPr lang="en-US" sz="864" dirty="0"/>
          </a:p>
        </p:txBody>
      </p:sp>
      <p:sp>
        <p:nvSpPr>
          <p:cNvPr id="13" name="Text 11"/>
          <p:cNvSpPr/>
          <p:nvPr/>
        </p:nvSpPr>
        <p:spPr>
          <a:xfrm>
            <a:off x="756787" y="3977283"/>
            <a:ext cx="1882834" cy="164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96"/>
              </a:lnSpc>
              <a:buNone/>
            </a:pPr>
            <a:r>
              <a:rPr lang="en-US" sz="864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energy ↑ ↔ loudness ↑</a:t>
            </a:r>
            <a:endParaRPr lang="en-US" sz="864" dirty="0"/>
          </a:p>
        </p:txBody>
      </p:sp>
      <p:sp>
        <p:nvSpPr>
          <p:cNvPr id="14" name="Text 12"/>
          <p:cNvSpPr/>
          <p:nvPr/>
        </p:nvSpPr>
        <p:spPr>
          <a:xfrm>
            <a:off x="2678900" y="3584228"/>
            <a:ext cx="18829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0883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−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78900" y="3812828"/>
            <a:ext cx="1882985" cy="164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96"/>
              </a:lnSpc>
              <a:buNone/>
            </a:pPr>
            <a:r>
              <a:rPr lang="en-US" sz="864" dirty="0">
                <a:solidFill>
                  <a:srgbClr val="8B949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Anti-correlação</a:t>
            </a:r>
            <a:endParaRPr lang="en-US" sz="864" dirty="0"/>
          </a:p>
        </p:txBody>
      </p:sp>
      <p:sp>
        <p:nvSpPr>
          <p:cNvPr id="16" name="Text 14"/>
          <p:cNvSpPr/>
          <p:nvPr/>
        </p:nvSpPr>
        <p:spPr>
          <a:xfrm>
            <a:off x="2678900" y="3977283"/>
            <a:ext cx="1882985" cy="164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96"/>
              </a:lnSpc>
              <a:buNone/>
            </a:pPr>
            <a:r>
              <a:rPr lang="en-US" sz="864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acousticness ↑ ↔ energy ↓</a:t>
            </a:r>
            <a:endParaRPr lang="en-US" sz="864" dirty="0"/>
          </a:p>
        </p:txBody>
      </p:sp>
      <p:sp>
        <p:nvSpPr>
          <p:cNvPr id="17" name="Text 15"/>
          <p:cNvSpPr/>
          <p:nvPr/>
        </p:nvSpPr>
        <p:spPr>
          <a:xfrm>
            <a:off x="4601166" y="3584228"/>
            <a:ext cx="18828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58A6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⚖️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01166" y="3812828"/>
            <a:ext cx="1882834" cy="164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96"/>
              </a:lnSpc>
              <a:buNone/>
            </a:pPr>
            <a:r>
              <a:rPr lang="en-US" sz="864" dirty="0">
                <a:solidFill>
                  <a:srgbClr val="8B949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Desequilíbrio</a:t>
            </a:r>
            <a:endParaRPr lang="en-US" sz="864" dirty="0"/>
          </a:p>
        </p:txBody>
      </p:sp>
      <p:sp>
        <p:nvSpPr>
          <p:cNvPr id="19" name="Text 17"/>
          <p:cNvSpPr/>
          <p:nvPr/>
        </p:nvSpPr>
        <p:spPr>
          <a:xfrm>
            <a:off x="4601166" y="3977283"/>
            <a:ext cx="1882834" cy="164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96"/>
              </a:lnSpc>
              <a:buNone/>
            </a:pPr>
            <a:r>
              <a:rPr lang="en-US" sz="864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isdancehit maioria classe 0</a:t>
            </a:r>
            <a:endParaRPr lang="en-US" sz="864" dirty="0"/>
          </a:p>
        </p:txBody>
      </p:sp>
      <p:sp>
        <p:nvSpPr>
          <p:cNvPr id="20" name="Text 18"/>
          <p:cNvSpPr/>
          <p:nvPr/>
        </p:nvSpPr>
        <p:spPr>
          <a:xfrm>
            <a:off x="6523280" y="3584228"/>
            <a:ext cx="18829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BC8C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📐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23280" y="3812828"/>
            <a:ext cx="1882985" cy="164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96"/>
              </a:lnSpc>
              <a:buNone/>
            </a:pPr>
            <a:r>
              <a:rPr lang="en-US" sz="864" dirty="0">
                <a:solidFill>
                  <a:srgbClr val="8B949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Distribuição</a:t>
            </a:r>
            <a:endParaRPr lang="en-US" sz="864" dirty="0"/>
          </a:p>
        </p:txBody>
      </p:sp>
      <p:sp>
        <p:nvSpPr>
          <p:cNvPr id="22" name="Text 20"/>
          <p:cNvSpPr/>
          <p:nvPr/>
        </p:nvSpPr>
        <p:spPr>
          <a:xfrm>
            <a:off x="6523280" y="3977283"/>
            <a:ext cx="1882985" cy="164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96"/>
              </a:lnSpc>
              <a:buNone/>
            </a:pPr>
            <a:r>
              <a:rPr lang="en-US" sz="864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popularity assimétrica à direita</a:t>
            </a:r>
            <a:endParaRPr lang="en-US" sz="864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49411"/>
            <a:ext cx="1850975" cy="221605"/>
          </a:xfrm>
          <a:prstGeom prst="roundRect">
            <a:avLst>
              <a:gd name="adj" fmla="val 41221344"/>
            </a:avLst>
          </a:prstGeom>
          <a:solidFill>
            <a:srgbClr val="1DB954">
              <a:alpha val="12000"/>
            </a:srgbClr>
          </a:solidFill>
          <a:ln w="9525">
            <a:solidFill>
              <a:srgbClr val="1DB954"/>
            </a:solidFill>
          </a:ln>
        </p:spPr>
        <p:txBody>
          <a:bodyPr wrap="square" lIns="95250" tIns="95250" rIns="95250" bIns="95250" rtlCol="0" anchor="t">
            <a:normAutofit/>
          </a:bodyPr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1DB95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Preparação — Spotify</a:t>
            </a:r>
            <a:endParaRPr lang="en-US" sz="864" dirty="0"/>
          </a:p>
        </p:txBody>
      </p:sp>
      <p:sp>
        <p:nvSpPr>
          <p:cNvPr id="3" name="Text 1"/>
          <p:cNvSpPr/>
          <p:nvPr/>
        </p:nvSpPr>
        <p:spPr>
          <a:xfrm>
            <a:off x="533400" y="1040309"/>
            <a:ext cx="3977580" cy="1276350"/>
          </a:xfrm>
          <a:prstGeom prst="roundRect">
            <a:avLst>
              <a:gd name="adj" fmla="val 85970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75246" y="1261170"/>
            <a:ext cx="283369" cy="205829"/>
          </a:xfrm>
          <a:prstGeom prst="roundRect">
            <a:avLst>
              <a:gd name="adj" fmla="val 44380802"/>
            </a:avLst>
          </a:prstGeom>
          <a:solidFill>
            <a:srgbClr val="1DB954">
              <a:alpha val="12000"/>
            </a:srgbClr>
          </a:solidFill>
          <a:ln w="9525">
            <a:solidFill>
              <a:srgbClr val="1DB954"/>
            </a:solidFill>
          </a:ln>
        </p:spPr>
        <p:txBody>
          <a:bodyPr wrap="square" lIns="95250" tIns="95250" rIns="95250" bIns="95250" rtlCol="0" anchor="t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1DB95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</a:t>
            </a:r>
            <a:endParaRPr lang="en-US" sz="780" dirty="0"/>
          </a:p>
        </p:txBody>
      </p:sp>
      <p:sp>
        <p:nvSpPr>
          <p:cNvPr id="5" name="Text 3"/>
          <p:cNvSpPr/>
          <p:nvPr/>
        </p:nvSpPr>
        <p:spPr>
          <a:xfrm>
            <a:off x="4632871" y="1040309"/>
            <a:ext cx="3977729" cy="1276350"/>
          </a:xfrm>
          <a:prstGeom prst="roundRect">
            <a:avLst>
              <a:gd name="adj" fmla="val 85970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874716" y="1261170"/>
            <a:ext cx="283369" cy="205829"/>
          </a:xfrm>
          <a:prstGeom prst="roundRect">
            <a:avLst>
              <a:gd name="adj" fmla="val 44380802"/>
            </a:avLst>
          </a:prstGeom>
          <a:solidFill>
            <a:srgbClr val="1DB954">
              <a:alpha val="12000"/>
            </a:srgbClr>
          </a:solidFill>
          <a:ln w="9525">
            <a:solidFill>
              <a:srgbClr val="1DB954"/>
            </a:solidFill>
          </a:ln>
        </p:spPr>
        <p:txBody>
          <a:bodyPr wrap="square" lIns="95250" tIns="95250" rIns="95250" bIns="95250" rtlCol="0" anchor="t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1DB95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533400" y="2438549"/>
            <a:ext cx="3977580" cy="1276350"/>
          </a:xfrm>
          <a:prstGeom prst="roundRect">
            <a:avLst>
              <a:gd name="adj" fmla="val 85970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75246" y="2659410"/>
            <a:ext cx="283369" cy="205829"/>
          </a:xfrm>
          <a:prstGeom prst="roundRect">
            <a:avLst>
              <a:gd name="adj" fmla="val 44380802"/>
            </a:avLst>
          </a:prstGeom>
          <a:solidFill>
            <a:srgbClr val="388BFD">
              <a:alpha val="12000"/>
            </a:srgbClr>
          </a:solidFill>
          <a:ln w="9525">
            <a:solidFill>
              <a:srgbClr val="388BFD"/>
            </a:solidFill>
          </a:ln>
        </p:spPr>
        <p:txBody>
          <a:bodyPr wrap="square" lIns="95250" tIns="95250" rIns="95250" bIns="95250" rtlCol="0" anchor="t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58A6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</a:t>
            </a:r>
            <a:endParaRPr lang="en-US" sz="780" dirty="0"/>
          </a:p>
        </p:txBody>
      </p:sp>
      <p:sp>
        <p:nvSpPr>
          <p:cNvPr id="9" name="Text 7"/>
          <p:cNvSpPr/>
          <p:nvPr/>
        </p:nvSpPr>
        <p:spPr>
          <a:xfrm>
            <a:off x="4632871" y="2438549"/>
            <a:ext cx="3977729" cy="1276350"/>
          </a:xfrm>
          <a:prstGeom prst="roundRect">
            <a:avLst>
              <a:gd name="adj" fmla="val 85970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74716" y="2659410"/>
            <a:ext cx="283369" cy="205829"/>
          </a:xfrm>
          <a:prstGeom prst="roundRect">
            <a:avLst>
              <a:gd name="adj" fmla="val 44380802"/>
            </a:avLst>
          </a:prstGeom>
          <a:solidFill>
            <a:srgbClr val="388BFD">
              <a:alpha val="12000"/>
            </a:srgbClr>
          </a:solidFill>
          <a:ln w="9525">
            <a:solidFill>
              <a:srgbClr val="388BFD"/>
            </a:solidFill>
          </a:ln>
        </p:spPr>
        <p:txBody>
          <a:bodyPr wrap="square" lIns="95250" tIns="95250" rIns="95250" bIns="95250" rtlCol="0" anchor="t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58A6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4</a:t>
            </a:r>
            <a:endParaRPr lang="en-US" sz="780" dirty="0"/>
          </a:p>
        </p:txBody>
      </p:sp>
      <p:sp>
        <p:nvSpPr>
          <p:cNvPr id="11" name="Text 9"/>
          <p:cNvSpPr/>
          <p:nvPr/>
        </p:nvSpPr>
        <p:spPr>
          <a:xfrm>
            <a:off x="533400" y="3836789"/>
            <a:ext cx="3977580" cy="1276350"/>
          </a:xfrm>
          <a:prstGeom prst="roundRect">
            <a:avLst>
              <a:gd name="adj" fmla="val 85970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75246" y="4057650"/>
            <a:ext cx="283369" cy="205829"/>
          </a:xfrm>
          <a:prstGeom prst="roundRect">
            <a:avLst>
              <a:gd name="adj" fmla="val 44380802"/>
            </a:avLst>
          </a:prstGeom>
          <a:solidFill>
            <a:srgbClr val="F0883E">
              <a:alpha val="12000"/>
            </a:srgbClr>
          </a:solidFill>
          <a:ln w="9525">
            <a:solidFill>
              <a:srgbClr val="F0883E"/>
            </a:solidFill>
          </a:ln>
        </p:spPr>
        <p:txBody>
          <a:bodyPr wrap="square" lIns="95250" tIns="95250" rIns="95250" bIns="95250" rtlCol="0" anchor="t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F0883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5</a:t>
            </a:r>
            <a:endParaRPr lang="en-US" sz="780" dirty="0"/>
          </a:p>
        </p:txBody>
      </p:sp>
      <p:sp>
        <p:nvSpPr>
          <p:cNvPr id="13" name="Text 11"/>
          <p:cNvSpPr/>
          <p:nvPr/>
        </p:nvSpPr>
        <p:spPr>
          <a:xfrm>
            <a:off x="4632871" y="3836789"/>
            <a:ext cx="3977729" cy="1276350"/>
          </a:xfrm>
          <a:prstGeom prst="roundRect">
            <a:avLst>
              <a:gd name="adj" fmla="val 85970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874716" y="4057650"/>
            <a:ext cx="403324" cy="205829"/>
          </a:xfrm>
          <a:prstGeom prst="roundRect">
            <a:avLst>
              <a:gd name="adj" fmla="val 44380802"/>
            </a:avLst>
          </a:prstGeom>
          <a:solidFill>
            <a:srgbClr val="F0883E">
              <a:alpha val="12000"/>
            </a:srgbClr>
          </a:solidFill>
          <a:ln w="9525">
            <a:solidFill>
              <a:srgbClr val="F0883E"/>
            </a:solidFill>
          </a:ln>
        </p:spPr>
        <p:txBody>
          <a:bodyPr wrap="square" lIns="95250" tIns="95250" rIns="95250" bIns="95250" rtlCol="0" anchor="t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F0883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6-7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533400" y="331887"/>
            <a:ext cx="8238744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140"/>
              </a:lnSpc>
              <a:buNone/>
            </a:pPr>
            <a:r>
              <a:rPr lang="en-US" sz="2760" dirty="0">
                <a:solidFill>
                  <a:srgbClr val="E6EDF3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Pipeline KNIME — 7 etapas</a:t>
            </a:r>
            <a:endParaRPr lang="en-US" sz="2760" dirty="0"/>
          </a:p>
        </p:txBody>
      </p:sp>
      <p:sp>
        <p:nvSpPr>
          <p:cNvPr id="16" name="Text 14"/>
          <p:cNvSpPr/>
          <p:nvPr/>
        </p:nvSpPr>
        <p:spPr>
          <a:xfrm>
            <a:off x="775246" y="1543199"/>
            <a:ext cx="3583198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30"/>
              </a:lnSpc>
              <a:buNone/>
            </a:pPr>
            <a:r>
              <a:rPr lang="en-US" sz="1020" b="1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Duplicate Row Filter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775246" y="1767780"/>
            <a:ext cx="3512939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4"/>
              </a:lnSpc>
              <a:buNone/>
            </a:pPr>
            <a:r>
              <a:rPr lang="en-US" sz="936" dirty="0">
                <a:solidFill>
                  <a:srgbClr val="8B949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114 000 → 113 999 registos. Mesma música em múltiplos géneros.</a:t>
            </a:r>
            <a:endParaRPr lang="en-US" sz="936" dirty="0"/>
          </a:p>
        </p:txBody>
      </p:sp>
      <p:sp>
        <p:nvSpPr>
          <p:cNvPr id="18" name="Text 16"/>
          <p:cNvSpPr/>
          <p:nvPr/>
        </p:nvSpPr>
        <p:spPr>
          <a:xfrm>
            <a:off x="4874716" y="1543199"/>
            <a:ext cx="3583350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30"/>
              </a:lnSpc>
              <a:buNone/>
            </a:pPr>
            <a:r>
              <a:rPr lang="en-US" sz="1020" b="1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Missing Value (2×)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4874716" y="1767780"/>
            <a:ext cx="3513088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4"/>
              </a:lnSpc>
              <a:buNone/>
            </a:pPr>
            <a:r>
              <a:rPr lang="en-US" sz="936" dirty="0">
                <a:solidFill>
                  <a:srgbClr val="8B949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1ª passagem: média/mediana por assimetria. 2ª: default para residuais após outliers.</a:t>
            </a:r>
            <a:endParaRPr lang="en-US" sz="936" dirty="0"/>
          </a:p>
        </p:txBody>
      </p:sp>
      <p:sp>
        <p:nvSpPr>
          <p:cNvPr id="20" name="Text 18"/>
          <p:cNvSpPr/>
          <p:nvPr/>
        </p:nvSpPr>
        <p:spPr>
          <a:xfrm>
            <a:off x="775246" y="2941439"/>
            <a:ext cx="3583198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30"/>
              </a:lnSpc>
              <a:buNone/>
            </a:pPr>
            <a:r>
              <a:rPr lang="en-US" sz="1020" b="1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Numeric Outliers (IQR×1.5)</a:t>
            </a:r>
            <a:endParaRPr lang="en-US" sz="1020" dirty="0"/>
          </a:p>
        </p:txBody>
      </p:sp>
      <p:sp>
        <p:nvSpPr>
          <p:cNvPr id="21" name="Text 19"/>
          <p:cNvSpPr/>
          <p:nvPr/>
        </p:nvSpPr>
        <p:spPr>
          <a:xfrm>
            <a:off x="775246" y="3166021"/>
            <a:ext cx="3512939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4"/>
              </a:lnSpc>
              <a:buNone/>
            </a:pPr>
            <a:r>
              <a:rPr lang="en-US" sz="936" dirty="0">
                <a:solidFill>
                  <a:srgbClr val="8B949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tempo, loudness, popularity, duration_ms — boundary replacement.</a:t>
            </a:r>
            <a:endParaRPr lang="en-US" sz="936" dirty="0"/>
          </a:p>
        </p:txBody>
      </p:sp>
      <p:sp>
        <p:nvSpPr>
          <p:cNvPr id="22" name="Text 20"/>
          <p:cNvSpPr/>
          <p:nvPr/>
        </p:nvSpPr>
        <p:spPr>
          <a:xfrm>
            <a:off x="4874716" y="2941439"/>
            <a:ext cx="3583350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30"/>
              </a:lnSpc>
              <a:buNone/>
            </a:pPr>
            <a:r>
              <a:rPr lang="en-US" sz="1020" b="1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Seleção de Features</a:t>
            </a:r>
            <a:endParaRPr lang="en-US" sz="1020" dirty="0"/>
          </a:p>
        </p:txBody>
      </p:sp>
      <p:sp>
        <p:nvSpPr>
          <p:cNvPr id="23" name="Text 21"/>
          <p:cNvSpPr/>
          <p:nvPr/>
        </p:nvSpPr>
        <p:spPr>
          <a:xfrm>
            <a:off x="4874716" y="3166021"/>
            <a:ext cx="3513088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4"/>
              </a:lnSpc>
              <a:buNone/>
            </a:pPr>
            <a:r>
              <a:rPr lang="en-US" sz="936" dirty="0">
                <a:solidFill>
                  <a:srgbClr val="8B949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158 → features acsticas + derivadas chave + trackgenre_le. One-hot excluído.</a:t>
            </a:r>
            <a:endParaRPr lang="en-US" sz="936" dirty="0"/>
          </a:p>
        </p:txBody>
      </p:sp>
      <p:sp>
        <p:nvSpPr>
          <p:cNvPr id="24" name="Text 22"/>
          <p:cNvSpPr/>
          <p:nvPr/>
        </p:nvSpPr>
        <p:spPr>
          <a:xfrm>
            <a:off x="775246" y="4339679"/>
            <a:ext cx="3583198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30"/>
              </a:lnSpc>
              <a:buNone/>
            </a:pPr>
            <a:r>
              <a:rPr lang="en-US" sz="1020" b="1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Normalizer (Z-Score + Min-Max)</a:t>
            </a:r>
            <a:endParaRPr lang="en-US" sz="1020" dirty="0"/>
          </a:p>
        </p:txBody>
      </p:sp>
      <p:sp>
        <p:nvSpPr>
          <p:cNvPr id="25" name="Text 23"/>
          <p:cNvSpPr/>
          <p:nvPr/>
        </p:nvSpPr>
        <p:spPr>
          <a:xfrm>
            <a:off x="775246" y="4564261"/>
            <a:ext cx="3512939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4"/>
              </a:lnSpc>
              <a:buNone/>
            </a:pPr>
            <a:r>
              <a:rPr lang="en-US" sz="936" dirty="0">
                <a:solidFill>
                  <a:srgbClr val="8B949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Z-Score geral. Min-Max exclusivo para RProp MLP (exige target 0–1).</a:t>
            </a:r>
            <a:endParaRPr lang="en-US" sz="936" dirty="0"/>
          </a:p>
        </p:txBody>
      </p:sp>
      <p:sp>
        <p:nvSpPr>
          <p:cNvPr id="26" name="Text 24"/>
          <p:cNvSpPr/>
          <p:nvPr/>
        </p:nvSpPr>
        <p:spPr>
          <a:xfrm>
            <a:off x="4874716" y="4339679"/>
            <a:ext cx="3583350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30"/>
              </a:lnSpc>
              <a:buNone/>
            </a:pPr>
            <a:r>
              <a:rPr lang="en-US" sz="1020" b="1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Table Partitioner + Equal Size</a:t>
            </a:r>
            <a:endParaRPr lang="en-US" sz="1020" dirty="0"/>
          </a:p>
        </p:txBody>
      </p:sp>
      <p:sp>
        <p:nvSpPr>
          <p:cNvPr id="27" name="Text 25"/>
          <p:cNvSpPr/>
          <p:nvPr/>
        </p:nvSpPr>
        <p:spPr>
          <a:xfrm>
            <a:off x="4874716" y="4564261"/>
            <a:ext cx="3513088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4"/>
              </a:lnSpc>
              <a:buNone/>
            </a:pPr>
            <a:r>
              <a:rPr lang="en-US" sz="936" dirty="0">
                <a:solidFill>
                  <a:srgbClr val="8B949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70/30 estratificado por género, seed=42. Equal Size Sampling para isdancehit.</a:t>
            </a:r>
            <a:endParaRPr lang="en-US" sz="936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855464"/>
            <a:ext cx="1762571" cy="221605"/>
          </a:xfrm>
          <a:prstGeom prst="roundRect">
            <a:avLst>
              <a:gd name="adj" fmla="val 41221344"/>
            </a:avLst>
          </a:prstGeom>
          <a:solidFill>
            <a:srgbClr val="1DB954">
              <a:alpha val="12000"/>
            </a:srgbClr>
          </a:solidFill>
          <a:ln w="9525">
            <a:solidFill>
              <a:srgbClr val="1DB954"/>
            </a:solidFill>
          </a:ln>
        </p:spPr>
        <p:txBody>
          <a:bodyPr wrap="square" lIns="95250" tIns="95250" rIns="95250" bIns="95250" rtlCol="0" anchor="t">
            <a:normAutofit/>
          </a:bodyPr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1DB95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Regressão — Spotify</a:t>
            </a:r>
            <a:endParaRPr lang="en-US" sz="864" dirty="0"/>
          </a:p>
        </p:txBody>
      </p:sp>
      <p:sp>
        <p:nvSpPr>
          <p:cNvPr id="3" name="Text 1"/>
          <p:cNvSpPr/>
          <p:nvPr/>
        </p:nvSpPr>
        <p:spPr>
          <a:xfrm>
            <a:off x="2457450" y="2138511"/>
            <a:ext cx="5086350" cy="95250"/>
          </a:xfrm>
          <a:prstGeom prst="roundRect">
            <a:avLst>
              <a:gd name="adj" fmla="val 384000"/>
            </a:avLst>
          </a:prstGeom>
          <a:solidFill>
            <a:srgbClr val="FFFFFF">
              <a:alpha val="6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457450" y="2420243"/>
            <a:ext cx="5086350" cy="95250"/>
          </a:xfrm>
          <a:prstGeom prst="roundRect">
            <a:avLst>
              <a:gd name="adj" fmla="val 384000"/>
            </a:avLst>
          </a:prstGeom>
          <a:solidFill>
            <a:srgbClr val="FFFFFF">
              <a:alpha val="6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457450" y="2701975"/>
            <a:ext cx="5086350" cy="95250"/>
          </a:xfrm>
          <a:prstGeom prst="roundRect">
            <a:avLst>
              <a:gd name="adj" fmla="val 384000"/>
            </a:avLst>
          </a:prstGeom>
          <a:solidFill>
            <a:srgbClr val="FFFFFF">
              <a:alpha val="6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457450" y="2983706"/>
            <a:ext cx="5086350" cy="95250"/>
          </a:xfrm>
          <a:prstGeom prst="roundRect">
            <a:avLst>
              <a:gd name="adj" fmla="val 384000"/>
            </a:avLst>
          </a:prstGeom>
          <a:solidFill>
            <a:srgbClr val="FFFFFF">
              <a:alpha val="6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457450" y="3265438"/>
            <a:ext cx="5086350" cy="95250"/>
          </a:xfrm>
          <a:prstGeom prst="roundRect">
            <a:avLst>
              <a:gd name="adj" fmla="val 384000"/>
            </a:avLst>
          </a:prstGeom>
          <a:solidFill>
            <a:srgbClr val="FFFFFF">
              <a:alpha val="6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33400" y="3556843"/>
            <a:ext cx="8077200" cy="750094"/>
          </a:xfrm>
          <a:prstGeom prst="roundRect">
            <a:avLst>
              <a:gd name="adj" fmla="val 146286"/>
            </a:avLst>
          </a:prstGeom>
          <a:solidFill>
            <a:srgbClr val="1DB954">
              <a:alpha val="6000"/>
            </a:srgbClr>
          </a:solidFill>
          <a:ln w="9525">
            <a:solidFill>
              <a:srgbClr val="1DB954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33400" y="1137940"/>
            <a:ext cx="8238744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140"/>
              </a:lnSpc>
              <a:buNone/>
            </a:pPr>
            <a:r>
              <a:rPr lang="en-US" sz="2760" dirty="0">
                <a:solidFill>
                  <a:srgbClr val="E6EDF3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Prever </a:t>
            </a:r>
            <a:pPr indent="0" marL="0">
              <a:lnSpc>
                <a:spcPts val="4140"/>
              </a:lnSpc>
              <a:buNone/>
            </a:pPr>
            <a:r>
              <a:rPr lang="en-US" sz="2760" i="1" dirty="0">
                <a:solidFill>
                  <a:srgbClr val="E6EDF3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popularity</a:t>
            </a:r>
            <a:endParaRPr lang="en-US" sz="2760" dirty="0"/>
          </a:p>
        </p:txBody>
      </p:sp>
      <p:sp>
        <p:nvSpPr>
          <p:cNvPr id="10" name="Text 8"/>
          <p:cNvSpPr/>
          <p:nvPr/>
        </p:nvSpPr>
        <p:spPr>
          <a:xfrm>
            <a:off x="533400" y="1724471"/>
            <a:ext cx="8238744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6"/>
              </a:lnSpc>
              <a:buNone/>
            </a:pPr>
            <a:r>
              <a:rPr lang="en-US" sz="984" dirty="0">
                <a:solidFill>
                  <a:srgbClr val="8B949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5 modelos comparados · Métrica principal: R² e RMSE</a:t>
            </a:r>
            <a:endParaRPr lang="en-US" sz="984" dirty="0"/>
          </a:p>
        </p:txBody>
      </p:sp>
      <p:sp>
        <p:nvSpPr>
          <p:cNvPr id="11" name="Text 9"/>
          <p:cNvSpPr/>
          <p:nvPr/>
        </p:nvSpPr>
        <p:spPr>
          <a:xfrm>
            <a:off x="533400" y="2094756"/>
            <a:ext cx="1845945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Gradient Boosted Trees</a:t>
            </a:r>
            <a:endParaRPr lang="en-US" sz="960" dirty="0"/>
          </a:p>
        </p:txBody>
      </p:sp>
      <p:sp>
        <p:nvSpPr>
          <p:cNvPr id="12" name="Text 10"/>
          <p:cNvSpPr/>
          <p:nvPr/>
        </p:nvSpPr>
        <p:spPr>
          <a:xfrm>
            <a:off x="7639050" y="2094756"/>
            <a:ext cx="97155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40"/>
              </a:lnSpc>
              <a:buNone/>
            </a:pPr>
            <a:r>
              <a:rPr lang="en-US" sz="960" b="1" dirty="0">
                <a:solidFill>
                  <a:srgbClr val="1DB95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R²=0.725 🏆</a:t>
            </a:r>
            <a:endParaRPr lang="en-US" sz="960" dirty="0"/>
          </a:p>
        </p:txBody>
      </p:sp>
      <p:sp>
        <p:nvSpPr>
          <p:cNvPr id="13" name="Text 11"/>
          <p:cNvSpPr/>
          <p:nvPr/>
        </p:nvSpPr>
        <p:spPr>
          <a:xfrm>
            <a:off x="533400" y="2376488"/>
            <a:ext cx="1845945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Linear Regression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7639050" y="2376488"/>
            <a:ext cx="97155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40"/>
              </a:lnSpc>
              <a:buNone/>
            </a:pPr>
            <a:r>
              <a:rPr lang="en-US" sz="960" b="1" dirty="0">
                <a:solidFill>
                  <a:srgbClr val="1DB95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R²=0.723</a:t>
            </a:r>
            <a:endParaRPr lang="en-US" sz="960" dirty="0"/>
          </a:p>
        </p:txBody>
      </p:sp>
      <p:sp>
        <p:nvSpPr>
          <p:cNvPr id="15" name="Text 13"/>
          <p:cNvSpPr/>
          <p:nvPr/>
        </p:nvSpPr>
        <p:spPr>
          <a:xfrm>
            <a:off x="533400" y="2658219"/>
            <a:ext cx="1845945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Random Forest</a:t>
            </a:r>
            <a:endParaRPr lang="en-US" sz="960" dirty="0"/>
          </a:p>
        </p:txBody>
      </p:sp>
      <p:sp>
        <p:nvSpPr>
          <p:cNvPr id="16" name="Text 14"/>
          <p:cNvSpPr/>
          <p:nvPr/>
        </p:nvSpPr>
        <p:spPr>
          <a:xfrm>
            <a:off x="7639050" y="2658219"/>
            <a:ext cx="97155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40"/>
              </a:lnSpc>
              <a:buNone/>
            </a:pPr>
            <a:r>
              <a:rPr lang="en-US" sz="960" b="1" dirty="0">
                <a:solidFill>
                  <a:srgbClr val="F0883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R²=0.687</a:t>
            </a:r>
            <a:endParaRPr lang="en-US" sz="960" dirty="0"/>
          </a:p>
        </p:txBody>
      </p:sp>
      <p:sp>
        <p:nvSpPr>
          <p:cNvPr id="17" name="Text 15"/>
          <p:cNvSpPr/>
          <p:nvPr/>
        </p:nvSpPr>
        <p:spPr>
          <a:xfrm>
            <a:off x="533400" y="2939951"/>
            <a:ext cx="1845945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Simple Regression Tree</a:t>
            </a:r>
            <a:endParaRPr lang="en-US" sz="960" dirty="0"/>
          </a:p>
        </p:txBody>
      </p:sp>
      <p:sp>
        <p:nvSpPr>
          <p:cNvPr id="18" name="Text 16"/>
          <p:cNvSpPr/>
          <p:nvPr/>
        </p:nvSpPr>
        <p:spPr>
          <a:xfrm>
            <a:off x="7639050" y="2939951"/>
            <a:ext cx="97155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40"/>
              </a:lnSpc>
              <a:buNone/>
            </a:pPr>
            <a:r>
              <a:rPr lang="en-US" sz="960" b="1" dirty="0">
                <a:solidFill>
                  <a:srgbClr val="F0883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R²=0.531</a:t>
            </a:r>
            <a:endParaRPr lang="en-US" sz="960" dirty="0"/>
          </a:p>
        </p:txBody>
      </p:sp>
      <p:sp>
        <p:nvSpPr>
          <p:cNvPr id="19" name="Text 17"/>
          <p:cNvSpPr/>
          <p:nvPr/>
        </p:nvSpPr>
        <p:spPr>
          <a:xfrm>
            <a:off x="533400" y="3221682"/>
            <a:ext cx="1845945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RProp MLP</a:t>
            </a:r>
            <a:endParaRPr lang="en-US" sz="960" dirty="0"/>
          </a:p>
        </p:txBody>
      </p:sp>
      <p:sp>
        <p:nvSpPr>
          <p:cNvPr id="20" name="Text 18"/>
          <p:cNvSpPr/>
          <p:nvPr/>
        </p:nvSpPr>
        <p:spPr>
          <a:xfrm>
            <a:off x="7639050" y="3221682"/>
            <a:ext cx="97155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40"/>
              </a:lnSpc>
              <a:buNone/>
            </a:pPr>
            <a:r>
              <a:rPr lang="en-US" sz="960" b="1" dirty="0">
                <a:solidFill>
                  <a:srgbClr val="8B949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R²=0.039 ⚠️</a:t>
            </a:r>
            <a:endParaRPr lang="en-US" sz="960" dirty="0"/>
          </a:p>
        </p:txBody>
      </p:sp>
      <p:sp>
        <p:nvSpPr>
          <p:cNvPr id="21" name="Text 19"/>
          <p:cNvSpPr/>
          <p:nvPr/>
        </p:nvSpPr>
        <p:spPr>
          <a:xfrm>
            <a:off x="756196" y="3768179"/>
            <a:ext cx="7551688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8B949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GBT e Regressão Linear praticamente empatados (ΔR²=0.002) — as relações tornam-se aproximadamente lineares após o feature engineering. RProp MLP falhou por limitações de normalização do target no KNIME.</a:t>
            </a:r>
            <a:endParaRPr lang="en-US" sz="96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256729"/>
            <a:ext cx="2013347" cy="221605"/>
          </a:xfrm>
          <a:prstGeom prst="roundRect">
            <a:avLst>
              <a:gd name="adj" fmla="val 41221344"/>
            </a:avLst>
          </a:prstGeom>
          <a:solidFill>
            <a:srgbClr val="388BFD">
              <a:alpha val="12000"/>
            </a:srgbClr>
          </a:solidFill>
          <a:ln w="9525">
            <a:solidFill>
              <a:srgbClr val="388BFD"/>
            </a:solidFill>
          </a:ln>
        </p:spPr>
        <p:txBody>
          <a:bodyPr wrap="square" lIns="95250" tIns="95250" rIns="95250" bIns="95250" rtlCol="0" anchor="t">
            <a:normAutofit/>
          </a:bodyPr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58A6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Classificação — Spotify</a:t>
            </a:r>
            <a:endParaRPr lang="en-US" sz="864" dirty="0"/>
          </a:p>
        </p:txBody>
      </p:sp>
      <p:sp>
        <p:nvSpPr>
          <p:cNvPr id="3" name="Text 1"/>
          <p:cNvSpPr/>
          <p:nvPr/>
        </p:nvSpPr>
        <p:spPr>
          <a:xfrm>
            <a:off x="533400" y="1460897"/>
            <a:ext cx="3977580" cy="1131094"/>
          </a:xfrm>
          <a:prstGeom prst="roundRect">
            <a:avLst>
              <a:gd name="adj" fmla="val 97011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632871" y="1460897"/>
            <a:ext cx="3977729" cy="1131094"/>
          </a:xfrm>
          <a:prstGeom prst="roundRect">
            <a:avLst>
              <a:gd name="adj" fmla="val 97011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2713881"/>
            <a:ext cx="3977580" cy="1309390"/>
          </a:xfrm>
          <a:prstGeom prst="roundRect">
            <a:avLst>
              <a:gd name="adj" fmla="val 83801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632871" y="2713881"/>
            <a:ext cx="3977729" cy="1309390"/>
          </a:xfrm>
          <a:prstGeom prst="roundRect">
            <a:avLst>
              <a:gd name="adj" fmla="val 83801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33400" y="4160341"/>
            <a:ext cx="8077200" cy="745629"/>
          </a:xfrm>
          <a:prstGeom prst="roundRect">
            <a:avLst>
              <a:gd name="adj" fmla="val 147162"/>
            </a:avLst>
          </a:prstGeom>
          <a:solidFill>
            <a:srgbClr val="F0883E">
              <a:alpha val="6000"/>
            </a:srgbClr>
          </a:solidFill>
          <a:ln w="9525">
            <a:solidFill>
              <a:srgbClr val="F0883E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33400" y="539204"/>
            <a:ext cx="8238744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140"/>
              </a:lnSpc>
              <a:buNone/>
            </a:pPr>
            <a:r>
              <a:rPr lang="en-US" sz="2760" dirty="0">
                <a:solidFill>
                  <a:srgbClr val="E6EDF3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Prever </a:t>
            </a:r>
            <a:pPr indent="0" marL="0">
              <a:lnSpc>
                <a:spcPts val="4140"/>
              </a:lnSpc>
              <a:buNone/>
            </a:pPr>
            <a:r>
              <a:rPr lang="en-US" sz="2760" i="1" dirty="0">
                <a:solidFill>
                  <a:srgbClr val="E6EDF3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isdancehit</a:t>
            </a:r>
            <a:endParaRPr lang="en-US" sz="2760" dirty="0"/>
          </a:p>
        </p:txBody>
      </p:sp>
      <p:sp>
        <p:nvSpPr>
          <p:cNvPr id="9" name="Text 7"/>
          <p:cNvSpPr/>
          <p:nvPr/>
        </p:nvSpPr>
        <p:spPr>
          <a:xfrm>
            <a:off x="533400" y="1110555"/>
            <a:ext cx="8238744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8B949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Accuracy enganadora → Cohen's Kappa é a métrica relevante (corrige desequilíbrio de classes)</a:t>
            </a:r>
            <a:endParaRPr lang="en-US" sz="960" dirty="0"/>
          </a:p>
        </p:txBody>
      </p:sp>
      <p:sp>
        <p:nvSpPr>
          <p:cNvPr id="10" name="Text 8"/>
          <p:cNvSpPr/>
          <p:nvPr/>
        </p:nvSpPr>
        <p:spPr>
          <a:xfrm>
            <a:off x="775246" y="1653183"/>
            <a:ext cx="3583198" cy="164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96"/>
              </a:lnSpc>
              <a:buNone/>
            </a:pPr>
            <a:r>
              <a:rPr lang="en-US" sz="864" dirty="0">
                <a:solidFill>
                  <a:srgbClr val="8B949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Decision Tree</a:t>
            </a:r>
            <a:endParaRPr lang="en-US" sz="864" dirty="0"/>
          </a:p>
        </p:txBody>
      </p:sp>
      <p:sp>
        <p:nvSpPr>
          <p:cNvPr id="11" name="Text 9"/>
          <p:cNvSpPr/>
          <p:nvPr/>
        </p:nvSpPr>
        <p:spPr>
          <a:xfrm>
            <a:off x="775246" y="1878509"/>
            <a:ext cx="358319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1DB95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κ = 0.947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75246" y="2221409"/>
            <a:ext cx="3583198" cy="17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4"/>
              </a:lnSpc>
              <a:buNone/>
            </a:pPr>
            <a:r>
              <a:rPr lang="en-US" sz="936" dirty="0">
                <a:solidFill>
                  <a:srgbClr val="8B949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Accuracy 99.98% · Gini · max_depth=7</a:t>
            </a:r>
            <a:endParaRPr lang="en-US" sz="936" dirty="0"/>
          </a:p>
        </p:txBody>
      </p:sp>
      <p:sp>
        <p:nvSpPr>
          <p:cNvPr id="13" name="Text 11"/>
          <p:cNvSpPr/>
          <p:nvPr/>
        </p:nvSpPr>
        <p:spPr>
          <a:xfrm>
            <a:off x="4874716" y="1653183"/>
            <a:ext cx="3583350" cy="164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96"/>
              </a:lnSpc>
              <a:buNone/>
            </a:pPr>
            <a:r>
              <a:rPr lang="en-US" sz="864" dirty="0">
                <a:solidFill>
                  <a:srgbClr val="8B949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Random Forest</a:t>
            </a:r>
            <a:endParaRPr lang="en-US" sz="864" dirty="0"/>
          </a:p>
        </p:txBody>
      </p:sp>
      <p:sp>
        <p:nvSpPr>
          <p:cNvPr id="14" name="Text 12"/>
          <p:cNvSpPr/>
          <p:nvPr/>
        </p:nvSpPr>
        <p:spPr>
          <a:xfrm>
            <a:off x="4874716" y="1878509"/>
            <a:ext cx="35833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1DB95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κ = 1.000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874716" y="2221409"/>
            <a:ext cx="3583350" cy="17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4"/>
              </a:lnSpc>
              <a:buNone/>
            </a:pPr>
            <a:r>
              <a:rPr lang="en-US" sz="936" dirty="0">
                <a:solidFill>
                  <a:srgbClr val="F0883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Acc 100% ⚠️ possível data leakage</a:t>
            </a:r>
            <a:endParaRPr lang="en-US" sz="936" dirty="0"/>
          </a:p>
        </p:txBody>
      </p:sp>
      <p:sp>
        <p:nvSpPr>
          <p:cNvPr id="16" name="Text 14"/>
          <p:cNvSpPr/>
          <p:nvPr/>
        </p:nvSpPr>
        <p:spPr>
          <a:xfrm>
            <a:off x="775246" y="2906167"/>
            <a:ext cx="3583198" cy="164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96"/>
              </a:lnSpc>
              <a:buNone/>
            </a:pPr>
            <a:r>
              <a:rPr lang="en-US" sz="864" dirty="0">
                <a:solidFill>
                  <a:srgbClr val="8B949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Naive Bayes</a:t>
            </a:r>
            <a:endParaRPr lang="en-US" sz="864" dirty="0"/>
          </a:p>
        </p:txBody>
      </p:sp>
      <p:sp>
        <p:nvSpPr>
          <p:cNvPr id="17" name="Text 15"/>
          <p:cNvSpPr/>
          <p:nvPr/>
        </p:nvSpPr>
        <p:spPr>
          <a:xfrm>
            <a:off x="775246" y="3131493"/>
            <a:ext cx="358319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F0883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κ = 0.072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75246" y="3474393"/>
            <a:ext cx="3512939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4"/>
              </a:lnSpc>
              <a:buNone/>
            </a:pPr>
            <a:r>
              <a:rPr lang="en-US" sz="936" dirty="0">
                <a:solidFill>
                  <a:srgbClr val="8B949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Acc 95.6% — independência condicional penaliza correlação dance/energy</a:t>
            </a:r>
            <a:endParaRPr lang="en-US" sz="936" dirty="0"/>
          </a:p>
        </p:txBody>
      </p:sp>
      <p:sp>
        <p:nvSpPr>
          <p:cNvPr id="19" name="Text 17"/>
          <p:cNvSpPr/>
          <p:nvPr/>
        </p:nvSpPr>
        <p:spPr>
          <a:xfrm>
            <a:off x="4874716" y="2906167"/>
            <a:ext cx="3583350" cy="164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96"/>
              </a:lnSpc>
              <a:buNone/>
            </a:pPr>
            <a:r>
              <a:rPr lang="en-US" sz="864" dirty="0">
                <a:solidFill>
                  <a:srgbClr val="8B949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SVM (RBF kernel)</a:t>
            </a:r>
            <a:endParaRPr lang="en-US" sz="864" dirty="0"/>
          </a:p>
        </p:txBody>
      </p:sp>
      <p:sp>
        <p:nvSpPr>
          <p:cNvPr id="20" name="Text 18"/>
          <p:cNvSpPr/>
          <p:nvPr/>
        </p:nvSpPr>
        <p:spPr>
          <a:xfrm>
            <a:off x="4874716" y="3131493"/>
            <a:ext cx="35833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8B949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κ = 0.000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874716" y="3474393"/>
            <a:ext cx="3583350" cy="17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4"/>
              </a:lnSpc>
              <a:buNone/>
            </a:pPr>
            <a:r>
              <a:rPr lang="en-US" sz="936" dirty="0">
                <a:solidFill>
                  <a:srgbClr val="8B949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Acc 99.8% — prevê sempre classe maioritária (0)</a:t>
            </a:r>
            <a:endParaRPr lang="en-US" sz="936" dirty="0"/>
          </a:p>
        </p:txBody>
      </p:sp>
      <p:sp>
        <p:nvSpPr>
          <p:cNvPr id="22" name="Text 20"/>
          <p:cNvSpPr/>
          <p:nvPr/>
        </p:nvSpPr>
        <p:spPr>
          <a:xfrm>
            <a:off x="756196" y="4362152"/>
            <a:ext cx="7555409" cy="323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22"/>
              </a:lnSpc>
              <a:buNone/>
            </a:pPr>
            <a:r>
              <a:rPr lang="en-US" sz="948" dirty="0">
                <a:solidFill>
                  <a:srgbClr val="8B949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RF com κ=1.0 pode ter capturado trivialmente a regra de definição da variável (danceability + energy). SVM e NB revelam limitações estruturais — kernel e suposição de independência, respetivamente.</a:t>
            </a:r>
            <a:endParaRPr lang="en-US" sz="948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-52387"/>
            <a:ext cx="1343025" cy="221605"/>
          </a:xfrm>
          <a:prstGeom prst="roundRect">
            <a:avLst>
              <a:gd name="adj" fmla="val 41221344"/>
            </a:avLst>
          </a:prstGeom>
          <a:solidFill>
            <a:srgbClr val="BC8CFF">
              <a:alpha val="12000"/>
            </a:srgbClr>
          </a:solidFill>
          <a:ln w="9525">
            <a:solidFill>
              <a:srgbClr val="BC8CFF"/>
            </a:solidFill>
          </a:ln>
        </p:spPr>
        <p:txBody>
          <a:bodyPr wrap="square" lIns="95250" tIns="95250" rIns="95250" bIns="95250" rtlCol="0" anchor="t">
            <a:normAutofit/>
          </a:bodyPr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BC8C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Análise Crítica</a:t>
            </a:r>
            <a:endParaRPr lang="en-US" sz="864" dirty="0"/>
          </a:p>
        </p:txBody>
      </p:sp>
      <p:sp>
        <p:nvSpPr>
          <p:cNvPr id="3" name="Text 1"/>
          <p:cNvSpPr/>
          <p:nvPr/>
        </p:nvSpPr>
        <p:spPr>
          <a:xfrm>
            <a:off x="533400" y="999679"/>
            <a:ext cx="8077200" cy="968127"/>
          </a:xfrm>
          <a:prstGeom prst="roundRect">
            <a:avLst>
              <a:gd name="adj" fmla="val 113341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33400" y="2082105"/>
            <a:ext cx="8077200" cy="968127"/>
          </a:xfrm>
          <a:prstGeom prst="roundRect">
            <a:avLst>
              <a:gd name="adj" fmla="val 113341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3164532"/>
            <a:ext cx="8077200" cy="968127"/>
          </a:xfrm>
          <a:prstGeom prst="roundRect">
            <a:avLst>
              <a:gd name="adj" fmla="val 113341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4246959"/>
            <a:ext cx="8077200" cy="968127"/>
          </a:xfrm>
          <a:prstGeom prst="roundRect">
            <a:avLst>
              <a:gd name="adj" fmla="val 113341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33400" y="230088"/>
            <a:ext cx="823874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500"/>
              </a:lnSpc>
              <a:buNone/>
            </a:pPr>
            <a:r>
              <a:rPr lang="en-US" sz="3000" dirty="0">
                <a:solidFill>
                  <a:srgbClr val="E6EDF3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O que aprendemos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75246" y="1191964"/>
            <a:ext cx="174879" cy="251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✅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1053257" y="1191964"/>
            <a:ext cx="7481239" cy="196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48"/>
              </a:lnSpc>
              <a:buNone/>
            </a:pPr>
            <a:r>
              <a:rPr lang="en-US" sz="1032" b="1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Feature Engineering pré-aplicado acelera iteração</a:t>
            </a:r>
            <a:endParaRPr lang="en-US" sz="1032" dirty="0"/>
          </a:p>
        </p:txBody>
      </p:sp>
      <p:sp>
        <p:nvSpPr>
          <p:cNvPr id="10" name="Text 8"/>
          <p:cNvSpPr/>
          <p:nvPr/>
        </p:nvSpPr>
        <p:spPr>
          <a:xfrm>
            <a:off x="1053257" y="1418927"/>
            <a:ext cx="7334548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4"/>
              </a:lnSpc>
              <a:buNone/>
            </a:pPr>
            <a:r>
              <a:rPr lang="en-US" sz="936" dirty="0">
                <a:solidFill>
                  <a:srgbClr val="8B949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 dataset de 158 colunas permitiu focar na modelação; as relações tornaram-se linearizadas, o que explica GBT ≈ Linear Regression no Spotify.</a:t>
            </a:r>
            <a:endParaRPr lang="en-US" sz="936" dirty="0"/>
          </a:p>
        </p:txBody>
      </p:sp>
      <p:sp>
        <p:nvSpPr>
          <p:cNvPr id="11" name="Text 9"/>
          <p:cNvSpPr/>
          <p:nvPr/>
        </p:nvSpPr>
        <p:spPr>
          <a:xfrm>
            <a:off x="775246" y="2274391"/>
            <a:ext cx="153323" cy="251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⚠️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1032123" y="2274391"/>
            <a:ext cx="7502795" cy="196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48"/>
              </a:lnSpc>
              <a:buNone/>
            </a:pPr>
            <a:r>
              <a:rPr lang="en-US" sz="1032" b="1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Accuracy alta ≠ modelo bom em dados desbalanceados</a:t>
            </a:r>
            <a:endParaRPr lang="en-US" sz="1032" dirty="0"/>
          </a:p>
        </p:txBody>
      </p:sp>
      <p:sp>
        <p:nvSpPr>
          <p:cNvPr id="13" name="Text 11"/>
          <p:cNvSpPr/>
          <p:nvPr/>
        </p:nvSpPr>
        <p:spPr>
          <a:xfrm>
            <a:off x="1032123" y="2501354"/>
            <a:ext cx="7355681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4"/>
              </a:lnSpc>
              <a:buNone/>
            </a:pPr>
            <a:r>
              <a:rPr lang="en-US" sz="936" dirty="0">
                <a:solidFill>
                  <a:srgbClr val="8B949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SVM com 99.8% de accuracy mas κ=0.0 demonstra que a métrica certa é fundamental. Sempre usar Cohen's Kappa ou F1-Score em classificação desequilibrada.</a:t>
            </a:r>
            <a:endParaRPr lang="en-US" sz="936" dirty="0"/>
          </a:p>
        </p:txBody>
      </p:sp>
      <p:sp>
        <p:nvSpPr>
          <p:cNvPr id="14" name="Text 12"/>
          <p:cNvSpPr/>
          <p:nvPr/>
        </p:nvSpPr>
        <p:spPr>
          <a:xfrm>
            <a:off x="775246" y="3356818"/>
            <a:ext cx="174879" cy="251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🔍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1053257" y="3356818"/>
            <a:ext cx="7481239" cy="196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48"/>
              </a:lnSpc>
              <a:buNone/>
            </a:pPr>
            <a:r>
              <a:rPr lang="en-US" sz="1032" b="1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Branches experimentais evitam data leakage nas conclusões</a:t>
            </a:r>
            <a:endParaRPr lang="en-US" sz="1032" dirty="0"/>
          </a:p>
        </p:txBody>
      </p:sp>
      <p:sp>
        <p:nvSpPr>
          <p:cNvPr id="16" name="Text 14"/>
          <p:cNvSpPr/>
          <p:nvPr/>
        </p:nvSpPr>
        <p:spPr>
          <a:xfrm>
            <a:off x="1053257" y="3583781"/>
            <a:ext cx="7334548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4"/>
              </a:lnSpc>
              <a:buNone/>
            </a:pPr>
            <a:r>
              <a:rPr lang="en-US" sz="936" dirty="0">
                <a:solidFill>
                  <a:srgbClr val="8B949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 branch WeatherTime-only no dataset energético revelou o verdadeiro desempenho preditivo (63.7% vs. 93.4% com variáveis energéticas) — diferença de 30pp demonstra proximidade ao target.</a:t>
            </a:r>
            <a:endParaRPr lang="en-US" sz="936" dirty="0"/>
          </a:p>
        </p:txBody>
      </p:sp>
      <p:sp>
        <p:nvSpPr>
          <p:cNvPr id="17" name="Text 15"/>
          <p:cNvSpPr/>
          <p:nvPr/>
        </p:nvSpPr>
        <p:spPr>
          <a:xfrm>
            <a:off x="775246" y="4439245"/>
            <a:ext cx="174879" cy="251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🧠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1053257" y="4439245"/>
            <a:ext cx="7481239" cy="196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48"/>
              </a:lnSpc>
              <a:buNone/>
            </a:pPr>
            <a:r>
              <a:rPr lang="en-US" sz="1032" b="1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Redes neuronais exigem cuidado de hiperparâmetros no KNIME</a:t>
            </a:r>
            <a:endParaRPr lang="en-US" sz="1032" dirty="0"/>
          </a:p>
        </p:txBody>
      </p:sp>
      <p:sp>
        <p:nvSpPr>
          <p:cNvPr id="19" name="Text 17"/>
          <p:cNvSpPr/>
          <p:nvPr/>
        </p:nvSpPr>
        <p:spPr>
          <a:xfrm>
            <a:off x="1053257" y="4666208"/>
            <a:ext cx="7334548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4"/>
              </a:lnSpc>
              <a:buNone/>
            </a:pPr>
            <a:r>
              <a:rPr lang="en-US" sz="936" dirty="0">
                <a:solidFill>
                  <a:srgbClr val="8B949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RProp MLP com R²=0.039 resultou de limitações de normalização do target. Configuração inadequada de redes em dados tabulares ≠ problemas com o modelo em geral.</a:t>
            </a:r>
            <a:endParaRPr lang="en-US" sz="936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3436441"/>
            <a:ext cx="2141190" cy="846088"/>
          </a:xfrm>
          <a:prstGeom prst="roundRect">
            <a:avLst>
              <a:gd name="adj" fmla="val 129689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01330" y="3436441"/>
            <a:ext cx="2141190" cy="846088"/>
          </a:xfrm>
          <a:prstGeom prst="roundRect">
            <a:avLst>
              <a:gd name="adj" fmla="val 129689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64411" y="3436441"/>
            <a:ext cx="2141190" cy="846088"/>
          </a:xfrm>
          <a:prstGeom prst="roundRect">
            <a:avLst>
              <a:gd name="adj" fmla="val 129689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2628" y="860822"/>
            <a:ext cx="8238744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100"/>
              </a:lnSpc>
              <a:buNone/>
            </a:pPr>
            <a:r>
              <a:rPr lang="en-US" sz="540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🎧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452628" y="2041922"/>
            <a:ext cx="8238744" cy="73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760"/>
              </a:lnSpc>
              <a:buNone/>
            </a:pPr>
            <a:r>
              <a:rPr lang="en-US" sz="4800" dirty="0">
                <a:solidFill>
                  <a:srgbClr val="1DB954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Obrigado!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2628" y="2925812"/>
            <a:ext cx="8238744" cy="205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8B949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ADI 2025–2026 · Grupo 36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1444090" y="3628727"/>
            <a:ext cx="1729511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40"/>
              </a:lnSpc>
              <a:buNone/>
            </a:pPr>
            <a:r>
              <a:rPr lang="en-US" sz="1560" b="1" dirty="0">
                <a:solidFill>
                  <a:srgbClr val="1DB95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0.725</a:t>
            </a:r>
            <a:endParaRPr lang="en-US" sz="1560" dirty="0"/>
          </a:p>
        </p:txBody>
      </p:sp>
      <p:sp>
        <p:nvSpPr>
          <p:cNvPr id="9" name="Text 7"/>
          <p:cNvSpPr/>
          <p:nvPr/>
        </p:nvSpPr>
        <p:spPr>
          <a:xfrm>
            <a:off x="1444090" y="3925788"/>
            <a:ext cx="1729511" cy="164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96"/>
              </a:lnSpc>
              <a:buNone/>
            </a:pPr>
            <a:r>
              <a:rPr lang="en-US" sz="864" dirty="0">
                <a:solidFill>
                  <a:srgbClr val="8B949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Melhor R² (GBT)</a:t>
            </a:r>
            <a:endParaRPr lang="en-US" sz="864" dirty="0"/>
          </a:p>
        </p:txBody>
      </p:sp>
      <p:sp>
        <p:nvSpPr>
          <p:cNvPr id="10" name="Text 8"/>
          <p:cNvSpPr/>
          <p:nvPr/>
        </p:nvSpPr>
        <p:spPr>
          <a:xfrm>
            <a:off x="3707170" y="3628727"/>
            <a:ext cx="1729511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40"/>
              </a:lnSpc>
              <a:buNone/>
            </a:pPr>
            <a:r>
              <a:rPr lang="en-US" sz="1560" b="1" dirty="0">
                <a:solidFill>
                  <a:srgbClr val="1DB95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0.947</a:t>
            </a:r>
            <a:endParaRPr lang="en-US" sz="1560" dirty="0"/>
          </a:p>
        </p:txBody>
      </p:sp>
      <p:sp>
        <p:nvSpPr>
          <p:cNvPr id="11" name="Text 9"/>
          <p:cNvSpPr/>
          <p:nvPr/>
        </p:nvSpPr>
        <p:spPr>
          <a:xfrm>
            <a:off x="3707170" y="3925788"/>
            <a:ext cx="1729511" cy="164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96"/>
              </a:lnSpc>
              <a:buNone/>
            </a:pPr>
            <a:r>
              <a:rPr lang="en-US" sz="864" dirty="0">
                <a:solidFill>
                  <a:srgbClr val="8B949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Melhor κ real (DTree)</a:t>
            </a:r>
            <a:endParaRPr lang="en-US" sz="864" dirty="0"/>
          </a:p>
        </p:txBody>
      </p:sp>
      <p:sp>
        <p:nvSpPr>
          <p:cNvPr id="12" name="Text 10"/>
          <p:cNvSpPr/>
          <p:nvPr/>
        </p:nvSpPr>
        <p:spPr>
          <a:xfrm>
            <a:off x="5970251" y="3628727"/>
            <a:ext cx="1729511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40"/>
              </a:lnSpc>
              <a:buNone/>
            </a:pPr>
            <a:r>
              <a:rPr lang="en-US" sz="1560" b="1" dirty="0">
                <a:solidFill>
                  <a:srgbClr val="1DB95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113 999</a:t>
            </a:r>
            <a:endParaRPr lang="en-US" sz="1560" dirty="0"/>
          </a:p>
        </p:txBody>
      </p:sp>
      <p:sp>
        <p:nvSpPr>
          <p:cNvPr id="13" name="Text 11"/>
          <p:cNvSpPr/>
          <p:nvPr/>
        </p:nvSpPr>
        <p:spPr>
          <a:xfrm>
            <a:off x="5970251" y="3925788"/>
            <a:ext cx="1729511" cy="164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96"/>
              </a:lnSpc>
              <a:buNone/>
            </a:pPr>
            <a:r>
              <a:rPr lang="en-US" sz="864" dirty="0">
                <a:solidFill>
                  <a:srgbClr val="8B949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Faixas analisadas</a:t>
            </a:r>
            <a:endParaRPr lang="en-US" sz="864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2026-05-19T14:51:15Z</dcterms:created>
  <dcterms:modified xsi:type="dcterms:W3CDTF">2026-05-19T14:51:15Z</dcterms:modified>
</cp:coreProperties>
</file>